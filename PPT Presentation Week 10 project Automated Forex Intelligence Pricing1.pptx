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55" r:id="rId2"/>
    <p:sldMasterId id="2147483956" r:id="rId3"/>
  </p:sldMasterIdLst>
  <p:notesMasterIdLst>
    <p:notesMasterId r:id="rId23"/>
  </p:notesMasterIdLst>
  <p:sldIdLst>
    <p:sldId id="2578" r:id="rId4"/>
    <p:sldId id="2570" r:id="rId5"/>
    <p:sldId id="2571" r:id="rId6"/>
    <p:sldId id="2575" r:id="rId7"/>
    <p:sldId id="2577" r:id="rId8"/>
    <p:sldId id="2590" r:id="rId9"/>
    <p:sldId id="2583" r:id="rId10"/>
    <p:sldId id="2581" r:id="rId11"/>
    <p:sldId id="2579" r:id="rId12"/>
    <p:sldId id="2582" r:id="rId13"/>
    <p:sldId id="2584" r:id="rId14"/>
    <p:sldId id="2586" r:id="rId15"/>
    <p:sldId id="2587" r:id="rId16"/>
    <p:sldId id="2588" r:id="rId17"/>
    <p:sldId id="2589" r:id="rId18"/>
    <p:sldId id="2591" r:id="rId19"/>
    <p:sldId id="2592" r:id="rId20"/>
    <p:sldId id="2595" r:id="rId21"/>
    <p:sldId id="259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utomated Forex Intelligence &amp; Pricing Platform for Kenyan Banks" id="{470077FA-2D46-4A73-A223-1DF6A9D82974}">
          <p14:sldIdLst>
            <p14:sldId id="2578"/>
            <p14:sldId id="2570"/>
            <p14:sldId id="2571"/>
            <p14:sldId id="2575"/>
            <p14:sldId id="2577"/>
            <p14:sldId id="2590"/>
            <p14:sldId id="2583"/>
            <p14:sldId id="2581"/>
            <p14:sldId id="2579"/>
            <p14:sldId id="2582"/>
            <p14:sldId id="2584"/>
            <p14:sldId id="2586"/>
            <p14:sldId id="2587"/>
            <p14:sldId id="2588"/>
            <p14:sldId id="2589"/>
            <p14:sldId id="2591"/>
            <p14:sldId id="2592"/>
            <p14:sldId id="2595"/>
            <p14:sldId id="25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23F1-3936-4C4D-952E-BED64514C1E5}" type="datetimeFigureOut">
              <a:t>6/9/2026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E97835-D2F5-4D12-8B8C-D74242FA97BD}" type="slidenum">
              <a:t>‹#›</a:t>
            </a:fld>
            <a:endParaRPr lang="en-US"/>
          </a:p>
        </p:txBody>
      </p:sp>
    </p:spTree>
    <p:extLst>
      <p:ext uri="{BB962C8B-B14F-4D97-AF65-F5344CB8AC3E}">
        <p14:creationId xmlns:p14="http://schemas.microsoft.com/office/powerpoint/2010/main" val="1558316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E97835-D2F5-4D12-8B8C-D74242FA97BD}" type="slidenum">
              <a:rPr lang="en-US" smtClean="0"/>
              <a:t>2</a:t>
            </a:fld>
            <a:endParaRPr lang="en-US"/>
          </a:p>
        </p:txBody>
      </p:sp>
    </p:spTree>
    <p:extLst>
      <p:ext uri="{BB962C8B-B14F-4D97-AF65-F5344CB8AC3E}">
        <p14:creationId xmlns:p14="http://schemas.microsoft.com/office/powerpoint/2010/main" val="21565495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48400" y="2819400"/>
            <a:ext cx="5029200" cy="1295400"/>
          </a:xfrm>
        </p:spPr>
        <p:txBody>
          <a:bodyPr vert="horz" lIns="91440" tIns="45720" rIns="91440" bIns="45720" rtlCol="0" anchor="b">
            <a:normAutofit/>
          </a:bodyPr>
          <a:lstStyle>
            <a:lvl1pPr>
              <a:lnSpc>
                <a:spcPct val="100000"/>
              </a:lnSpc>
              <a:defRPr lang="en-US" sz="2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48400" y="4270248"/>
            <a:ext cx="5029200" cy="685800"/>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41931062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D909A06-A364-5E3D-6D27-7FAA213CE4A0}"/>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78872" y="1830774"/>
            <a:ext cx="10827328" cy="4332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31E58F-1A72-99FC-BFB5-C1A7E18DCA88}"/>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5AB93EAD-9C49-0E73-60D2-E95D760F702A}"/>
              </a:ext>
            </a:extLst>
          </p:cNvPr>
          <p:cNvSpPr>
            <a:spLocks noGrp="1"/>
          </p:cNvSpPr>
          <p:nvPr>
            <p:ph type="dt" sz="half" idx="10"/>
          </p:nvPr>
        </p:nvSpPr>
        <p:spPr/>
        <p:txBody>
          <a:bodyPr/>
          <a:lstStyle/>
          <a:p>
            <a:endParaRPr lang="en-US"/>
          </a:p>
        </p:txBody>
      </p:sp>
      <p:sp>
        <p:nvSpPr>
          <p:cNvPr id="5" name="Slide Number Placeholder 4">
            <a:extLst>
              <a:ext uri="{FF2B5EF4-FFF2-40B4-BE49-F238E27FC236}">
                <a16:creationId xmlns:a16="http://schemas.microsoft.com/office/drawing/2014/main" id="{E951C29A-9EE1-5B40-D317-4A98FF038C71}"/>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32287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0" y="3071529"/>
            <a:ext cx="5257800" cy="19812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0" y="5257800"/>
            <a:ext cx="5257800"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37135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326112-1BD1-F5C0-ED77-E41EEFB039AF}"/>
              </a:ext>
            </a:extLst>
          </p:cNvPr>
          <p:cNvSpPr>
            <a:spLocks noGrp="1"/>
          </p:cNvSpPr>
          <p:nvPr>
            <p:ph type="ctrTitle"/>
          </p:nvPr>
        </p:nvSpPr>
        <p:spPr>
          <a:xfrm>
            <a:off x="678870" y="1142999"/>
            <a:ext cx="4807529" cy="3188635"/>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9" name="Subtitle 2">
            <a:extLst>
              <a:ext uri="{FF2B5EF4-FFF2-40B4-BE49-F238E27FC236}">
                <a16:creationId xmlns:a16="http://schemas.microsoft.com/office/drawing/2014/main" id="{E8300B8C-A996-EF72-0213-6F8F903337A4}"/>
              </a:ext>
            </a:extLst>
          </p:cNvPr>
          <p:cNvSpPr>
            <a:spLocks noGrp="1"/>
          </p:cNvSpPr>
          <p:nvPr>
            <p:ph type="subTitle" idx="1"/>
          </p:nvPr>
        </p:nvSpPr>
        <p:spPr>
          <a:xfrm>
            <a:off x="678870" y="4560236"/>
            <a:ext cx="4807529"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11013417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blipFill dpi="0" rotWithShape="1">
          <a:blip r:embed="rId2">
            <a:extLst>
              <a:ext uri="{BEBA8EAE-BF5A-486C-A8C5-ECC9F3942E4B}">
                <a14:imgProps xmlns:a14="http://schemas.microsoft.com/office/drawing/2010/main">
                  <a14:imgLayer r:embed="rId3">
                    <a14:imgEffect>
                      <a14:brightnessContrast bright="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58619" y="609601"/>
            <a:ext cx="5447581" cy="3768320"/>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58618" y="4662326"/>
            <a:ext cx="5447582" cy="1586073"/>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1" y="609600"/>
            <a:ext cx="4935358" cy="5638800"/>
          </a:xfrm>
          <a:blipFill>
            <a:blip r:embed="rId4">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9291697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8871" y="529496"/>
            <a:ext cx="10827330" cy="990600"/>
          </a:xfrm>
        </p:spPr>
        <p:txBody>
          <a:bodyPr vert="horz" lIns="91440" tIns="45720" rIns="91440" bIns="45720" rtlCol="0" anchor="ctr">
            <a:normAutofit/>
          </a:bodyPr>
          <a:lstStyle>
            <a:lvl1pPr algn="ct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8871" y="5337048"/>
            <a:ext cx="10827329" cy="987552"/>
          </a:xfrm>
        </p:spPr>
        <p:txBody>
          <a:bodyPr vert="horz" lIns="91440" tIns="45720" rIns="91440" bIns="45720" rtlCol="0" anchor="ctr">
            <a:normAutofit/>
          </a:bodyPr>
          <a:lstStyle>
            <a:lvl1pPr marL="0" indent="0" algn="ctr">
              <a:buNone/>
              <a:defRPr lang="en-US" sz="1600" dirty="0"/>
            </a:lvl1pPr>
          </a:lstStyle>
          <a:p>
            <a:pPr lvl="0"/>
            <a:r>
              <a:rPr lang="en-US"/>
              <a:t>Click to edit Master subtitle style</a:t>
            </a:r>
          </a:p>
        </p:txBody>
      </p:sp>
      <p:sp>
        <p:nvSpPr>
          <p:cNvPr id="4" name="Picture Placeholder 10">
            <a:extLst>
              <a:ext uri="{FF2B5EF4-FFF2-40B4-BE49-F238E27FC236}">
                <a16:creationId xmlns:a16="http://schemas.microsoft.com/office/drawing/2014/main" id="{3C616236-6C34-2AB3-9A30-9F0CB3F4E1B7}"/>
              </a:ext>
            </a:extLst>
          </p:cNvPr>
          <p:cNvSpPr>
            <a:spLocks noGrp="1"/>
          </p:cNvSpPr>
          <p:nvPr>
            <p:ph type="pic" sz="quarter" idx="13" hasCustomPrompt="1"/>
          </p:nvPr>
        </p:nvSpPr>
        <p:spPr>
          <a:xfrm>
            <a:off x="678871" y="2019299"/>
            <a:ext cx="10827330" cy="2819402"/>
          </a:xfrm>
          <a:blipFill>
            <a:blip r:embed="rId3">
              <a:alphaModFix amt="60000"/>
              <a:extLst>
                <a:ext uri="{28A0092B-C50C-407E-A947-70E740481C1C}">
                  <a14:useLocalDpi xmlns:a14="http://schemas.microsoft.com/office/drawing/2010/main" val="0"/>
                </a:ext>
              </a:extLst>
            </a:blip>
            <a:srcRect/>
            <a:stretch>
              <a:fillRect t="-71622" b="-47190"/>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5198089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24600" y="609600"/>
            <a:ext cx="5188529" cy="4953000"/>
          </a:xfr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18504" y="5867400"/>
            <a:ext cx="5188529" cy="377573"/>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5" name="Picture Placeholder 10">
            <a:extLst>
              <a:ext uri="{FF2B5EF4-FFF2-40B4-BE49-F238E27FC236}">
                <a16:creationId xmlns:a16="http://schemas.microsoft.com/office/drawing/2014/main" id="{A3E0057A-BBE1-599B-C438-DC65F9614590}"/>
              </a:ext>
            </a:extLst>
          </p:cNvPr>
          <p:cNvSpPr>
            <a:spLocks noGrp="1"/>
          </p:cNvSpPr>
          <p:nvPr>
            <p:ph type="pic" sz="quarter" idx="13" hasCustomPrompt="1"/>
          </p:nvPr>
        </p:nvSpPr>
        <p:spPr>
          <a:xfrm>
            <a:off x="678871" y="609600"/>
            <a:ext cx="4935358" cy="5638800"/>
          </a:xfrm>
          <a:blipFill>
            <a:blip r:embed="rId3">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8819780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1450" y="4038601"/>
            <a:ext cx="6587550" cy="2209800"/>
          </a:xfrm>
        </p:spPr>
        <p:txBody>
          <a:bodyPr vert="horz" lIns="91440" tIns="45720" rIns="91440" bIns="45720" rtlCol="0" anchor="t">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8600" y="4038601"/>
            <a:ext cx="3657600" cy="2209799"/>
          </a:xfrm>
        </p:spPr>
        <p:txBody>
          <a:bodyPr vert="horz" lIns="91440" tIns="45720" rIns="91440" bIns="45720" rtlCol="0" anchor="b">
            <a:normAutofit/>
          </a:bodyPr>
          <a:lstStyle>
            <a:lvl1pPr marL="0" indent="0" algn="r">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0" y="609598"/>
            <a:ext cx="10827330" cy="2819402"/>
          </a:xfrm>
          <a:blipFill>
            <a:blip r:embed="rId3">
              <a:alphaModFix amt="60000"/>
              <a:extLst>
                <a:ext uri="{28A0092B-C50C-407E-A947-70E740481C1C}">
                  <a14:useLocalDpi xmlns:a14="http://schemas.microsoft.com/office/drawing/2010/main" val="0"/>
                </a:ext>
              </a:extLst>
            </a:blip>
            <a:srcRect/>
            <a:stretch>
              <a:fillRect t="-86486" b="-32326"/>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7969283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17365680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37390395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1CED7D0-671B-7F63-5130-E35828ABE878}"/>
              </a:ext>
            </a:extLst>
          </p:cNvPr>
          <p:cNvSpPr>
            <a:spLocks noGrp="1"/>
          </p:cNvSpPr>
          <p:nvPr>
            <p:ph type="title"/>
          </p:nvPr>
        </p:nvSpPr>
        <p:spPr>
          <a:xfrm>
            <a:off x="4572000" y="1340668"/>
            <a:ext cx="6932507" cy="1135838"/>
          </a:xfrm>
        </p:spPr>
        <p:txBody>
          <a:bodyPr anchor="b">
            <a:normAutofit/>
          </a:bodyPr>
          <a:lstStyle>
            <a:lvl1pPr>
              <a:defRPr sz="2800"/>
            </a:lvl1pPr>
          </a:lstStyle>
          <a:p>
            <a:r>
              <a:rPr lang="en-US"/>
              <a:t>Click to edit Master title style</a:t>
            </a:r>
          </a:p>
        </p:txBody>
      </p:sp>
      <p:sp>
        <p:nvSpPr>
          <p:cNvPr id="8" name="Content Placeholder 6">
            <a:extLst>
              <a:ext uri="{FF2B5EF4-FFF2-40B4-BE49-F238E27FC236}">
                <a16:creationId xmlns:a16="http://schemas.microsoft.com/office/drawing/2014/main" id="{22A82A9B-9EBD-0A77-F607-E839D43652B1}"/>
              </a:ext>
            </a:extLst>
          </p:cNvPr>
          <p:cNvSpPr>
            <a:spLocks noGrp="1"/>
          </p:cNvSpPr>
          <p:nvPr>
            <p:ph sz="quarter" idx="13"/>
          </p:nvPr>
        </p:nvSpPr>
        <p:spPr>
          <a:xfrm>
            <a:off x="4571999" y="2743200"/>
            <a:ext cx="6932508" cy="3419856"/>
          </a:xfrm>
          <a:noFill/>
        </p:spPr>
        <p:txBody>
          <a:bodyPr>
            <a:normAutofit/>
          </a:bodyPr>
          <a:lstStyle>
            <a:lvl1pPr marL="457200" indent="-457200">
              <a:buFont typeface="+mj-lt"/>
              <a:buAutoNum type="arabicPeriod"/>
              <a:defRPr sz="1800">
                <a:solidFill>
                  <a:schemeClr val="tx1"/>
                </a:solidFill>
              </a:defRPr>
            </a:lvl1pPr>
            <a:lvl2pPr marL="571500" indent="-3429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200">
                <a:solidFill>
                  <a:schemeClr val="tx1"/>
                </a:solidFill>
              </a:defRPr>
            </a:lvl4pPr>
            <a:lvl5pPr>
              <a:buFont typeface="+mj-lt"/>
              <a:buAutoNum type="arabicPeriod"/>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5582C81-1CE9-A2E1-1417-0667434DFD2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B4EFFC3A-D237-7CAA-92EF-DF9B810EB271}"/>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F3E7B383-8CF2-6BB2-8F46-605FE9710B27}"/>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68727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3"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2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97B878F-3C07-D360-EC90-8FEFB87A77CD}"/>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4018733C-68A4-04E1-A968-B5C15E3F7EE2}"/>
              </a:ext>
            </a:extLst>
          </p:cNvPr>
          <p:cNvSpPr>
            <a:spLocks noGrp="1"/>
          </p:cNvSpPr>
          <p:nvPr>
            <p:ph type="dt" sz="half" idx="15"/>
          </p:nvPr>
        </p:nvSpPr>
        <p:spPr/>
        <p:txBody>
          <a:bodyPr/>
          <a:lstStyle/>
          <a:p>
            <a:endParaRPr lang="en-US"/>
          </a:p>
        </p:txBody>
      </p:sp>
      <p:sp>
        <p:nvSpPr>
          <p:cNvPr id="6" name="Slide Number Placeholder 5">
            <a:extLst>
              <a:ext uri="{FF2B5EF4-FFF2-40B4-BE49-F238E27FC236}">
                <a16:creationId xmlns:a16="http://schemas.microsoft.com/office/drawing/2014/main" id="{978E9E97-1DED-CCA3-AF67-F1BAD79A819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54637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62EDB1F-A73E-55BD-6BDA-F64978102A97}"/>
              </a:ext>
            </a:extLst>
          </p:cNvPr>
          <p:cNvSpPr>
            <a:spLocks noGrp="1"/>
          </p:cNvSpPr>
          <p:nvPr>
            <p:ph type="title"/>
          </p:nvPr>
        </p:nvSpPr>
        <p:spPr>
          <a:xfrm>
            <a:off x="5708024" y="855636"/>
            <a:ext cx="5796484" cy="1070776"/>
          </a:xfrm>
        </p:spPr>
        <p:txBody>
          <a:bodyPr/>
          <a:lstStyle/>
          <a:p>
            <a:r>
              <a:rPr lang="en-US"/>
              <a:t>Click to edit Master title style</a:t>
            </a:r>
          </a:p>
        </p:txBody>
      </p:sp>
      <p:sp>
        <p:nvSpPr>
          <p:cNvPr id="13" name="Content Placeholder 7">
            <a:extLst>
              <a:ext uri="{FF2B5EF4-FFF2-40B4-BE49-F238E27FC236}">
                <a16:creationId xmlns:a16="http://schemas.microsoft.com/office/drawing/2014/main" id="{A4047690-7015-54CB-752C-C1C7BE42D7C7}"/>
              </a:ext>
            </a:extLst>
          </p:cNvPr>
          <p:cNvSpPr>
            <a:spLocks noGrp="1"/>
          </p:cNvSpPr>
          <p:nvPr>
            <p:ph sz="quarter" idx="14"/>
          </p:nvPr>
        </p:nvSpPr>
        <p:spPr>
          <a:xfrm>
            <a:off x="5708024" y="2057400"/>
            <a:ext cx="5798176"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071DA00E-F240-EC85-5E2B-4DE591F61044}"/>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a:defRPr sz="900">
                <a:solidFill>
                  <a:schemeClr val="tx1"/>
                </a:solidFill>
              </a:defRPr>
            </a:lvl1pPr>
          </a:lstStyle>
          <a:p>
            <a:endParaRPr lang="en-US" sz="900"/>
          </a:p>
        </p:txBody>
      </p:sp>
      <p:sp>
        <p:nvSpPr>
          <p:cNvPr id="5" name="Date Placeholder 8">
            <a:extLst>
              <a:ext uri="{FF2B5EF4-FFF2-40B4-BE49-F238E27FC236}">
                <a16:creationId xmlns:a16="http://schemas.microsoft.com/office/drawing/2014/main" id="{EED5FCE3-5050-A9AE-69B1-6AAB64B63174}"/>
              </a:ext>
            </a:extLst>
          </p:cNvPr>
          <p:cNvSpPr>
            <a:spLocks noGrp="1"/>
          </p:cNvSpPr>
          <p:nvPr>
            <p:ph type="dt" sz="half" idx="16"/>
          </p:nvPr>
        </p:nvSpPr>
        <p:spPr>
          <a:xfrm>
            <a:off x="3505380" y="6346745"/>
            <a:ext cx="1762359" cy="365125"/>
          </a:xfrm>
        </p:spPr>
        <p:txBody>
          <a:bodyPr/>
          <a:lstStyle/>
          <a:p>
            <a:endParaRPr lang="en-US"/>
          </a:p>
        </p:txBody>
      </p:sp>
      <p:sp>
        <p:nvSpPr>
          <p:cNvPr id="11" name="Slide Number Placeholder 5">
            <a:extLst>
              <a:ext uri="{FF2B5EF4-FFF2-40B4-BE49-F238E27FC236}">
                <a16:creationId xmlns:a16="http://schemas.microsoft.com/office/drawing/2014/main" id="{BE15DD76-F653-F74F-4DCD-674241F38B03}"/>
              </a:ext>
            </a:extLst>
          </p:cNvPr>
          <p:cNvSpPr>
            <a:spLocks noGrp="1"/>
          </p:cNvSpPr>
          <p:nvPr>
            <p:ph type="sldNum" sz="quarter" idx="4"/>
          </p:nvPr>
        </p:nvSpPr>
        <p:spPr>
          <a:xfrm>
            <a:off x="5350612"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0360418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1385287"/>
            <a:ext cx="4973865" cy="147022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324600" y="1385287"/>
            <a:ext cx="5181600" cy="3491513"/>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D8DAA7E-55EA-19E9-ECC7-C74FE582C066}"/>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F623C363-6C3B-E28D-06F5-AB2EC53D7B80}"/>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D803258A-CFF4-775F-A29D-30D91D4A509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622043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20333"/>
            <a:ext cx="7208520" cy="57506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04084" y="1600200"/>
            <a:ext cx="5735507" cy="2590800"/>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F391C811-7699-F021-4CCB-539ACAD0BB23}"/>
              </a:ext>
            </a:extLst>
          </p:cNvPr>
          <p:cNvSpPr>
            <a:spLocks noGrp="1"/>
          </p:cNvSpPr>
          <p:nvPr>
            <p:ph type="ftr" sz="quarter" idx="15"/>
          </p:nvPr>
        </p:nvSpPr>
        <p:spPr>
          <a:xfrm>
            <a:off x="678871" y="6343955"/>
            <a:ext cx="2739181" cy="365125"/>
          </a:xfrm>
        </p:spPr>
        <p:txBody>
          <a:bodyPr/>
          <a:lstStyle/>
          <a:p>
            <a:endParaRPr lang="en-US"/>
          </a:p>
        </p:txBody>
      </p:sp>
      <p:sp>
        <p:nvSpPr>
          <p:cNvPr id="9" name="Date Placeholder 8">
            <a:extLst>
              <a:ext uri="{FF2B5EF4-FFF2-40B4-BE49-F238E27FC236}">
                <a16:creationId xmlns:a16="http://schemas.microsoft.com/office/drawing/2014/main" id="{C8D4E6C4-6819-0DF7-D9C4-34177C161B9C}"/>
              </a:ext>
            </a:extLst>
          </p:cNvPr>
          <p:cNvSpPr>
            <a:spLocks noGrp="1"/>
          </p:cNvSpPr>
          <p:nvPr>
            <p:ph type="dt" sz="half" idx="16"/>
          </p:nvPr>
        </p:nvSpPr>
        <p:spPr>
          <a:xfrm>
            <a:off x="3785216" y="6343954"/>
            <a:ext cx="2202644" cy="365125"/>
          </a:xfrm>
        </p:spPr>
        <p:txBody>
          <a:bodyPr/>
          <a:lstStyle/>
          <a:p>
            <a:endParaRPr lang="en-US"/>
          </a:p>
        </p:txBody>
      </p:sp>
      <p:sp>
        <p:nvSpPr>
          <p:cNvPr id="5" name="Slide Number Placeholder 5">
            <a:extLst>
              <a:ext uri="{FF2B5EF4-FFF2-40B4-BE49-F238E27FC236}">
                <a16:creationId xmlns:a16="http://schemas.microsoft.com/office/drawing/2014/main" id="{958998F3-C99E-11E5-BC33-937A455B2FFB}"/>
              </a:ext>
            </a:extLst>
          </p:cNvPr>
          <p:cNvSpPr>
            <a:spLocks noGrp="1"/>
          </p:cNvSpPr>
          <p:nvPr>
            <p:ph type="sldNum" sz="quarter" idx="4"/>
          </p:nvPr>
        </p:nvSpPr>
        <p:spPr>
          <a:xfrm>
            <a:off x="6082179"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4321933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2" y="1388700"/>
            <a:ext cx="3859262" cy="408358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7117"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BE56440-14E3-7B9A-D161-08AB10B8DCA7}"/>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85E8A7CF-81AE-0AC6-B47B-E2C1EA9D9AC7}"/>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C4A578E8-BCF2-BF9D-84B5-AA93D14D0DF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4322742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9" y="1050111"/>
            <a:ext cx="3425026" cy="3977107"/>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05601"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9C54C37D-3064-C3C9-078B-4FC8A705FCD0}"/>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3" name="Slide Number Placeholder 5">
            <a:extLst>
              <a:ext uri="{FF2B5EF4-FFF2-40B4-BE49-F238E27FC236}">
                <a16:creationId xmlns:a16="http://schemas.microsoft.com/office/drawing/2014/main" id="{C277C0F5-D964-B2D1-0F39-EC17AB0741BA}"/>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9203666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8" y="685799"/>
            <a:ext cx="3276601" cy="5477257"/>
          </a:xfrm>
        </p:spPr>
        <p:txBody>
          <a:bodyPr anchor="t">
            <a:norm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1" y="685800"/>
            <a:ext cx="6858000" cy="5477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5E77C0F-A50D-ABB1-D91B-F877E2E82975}"/>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EBE0A937-543E-BBB8-39DD-1E9A45291F2C}"/>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BC8C33EC-C7FC-72B4-C208-8BA6FD4B585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971146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687494"/>
            <a:ext cx="2618139" cy="2017614"/>
          </a:xfrm>
        </p:spPr>
        <p:txBody>
          <a:bodyPr anchor="b"/>
          <a:lstStyle>
            <a:lvl1pPr>
              <a:defRPr sz="2400"/>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7171" y="687492"/>
            <a:ext cx="7500648"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5011" r="-15011"/>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83064"/>
            <a:ext cx="2625774" cy="318744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F4A72B8-D6F1-AF2B-DF03-17FD2A737E2E}"/>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C6CDF5D5-DF03-873F-A2DA-E5C0EF793F83}"/>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1C10C7DB-FD9D-21A6-66CB-087260FBAF71}"/>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691613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5012268"/>
            <a:ext cx="3953296" cy="1127275"/>
          </a:xfrm>
        </p:spPr>
        <p:txBody>
          <a:bodyPr anchor="t">
            <a:no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685800"/>
            <a:ext cx="10827330" cy="3940196"/>
          </a:xfrm>
          <a:blipFill>
            <a:blip r:embed="rId2">
              <a:alphaModFix amt="60000"/>
              <a:extLst>
                <a:ext uri="{28A0092B-C50C-407E-A947-70E740481C1C}">
                  <a14:useLocalDpi xmlns:a14="http://schemas.microsoft.com/office/drawing/2010/main" val="0"/>
                </a:ext>
              </a:extLst>
            </a:blip>
            <a:srcRect/>
            <a:stretch>
              <a:fillRect t="-44691" b="-9803"/>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ADB2910-904E-268B-43B3-CAE9F2E4A0F3}"/>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323FEBCC-AB7F-E034-5C1D-1AFF70FC7809}"/>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8E1EE381-D50D-08D2-2D1B-9E61241A22B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3773039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953296" cy="1127275"/>
          </a:xfrm>
        </p:spPr>
        <p:txBody>
          <a:bodyPr anchor="t">
            <a:no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685800"/>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212152"/>
            <a:ext cx="10827330" cy="3940196"/>
          </a:xfrm>
          <a:blipFill>
            <a:blip r:embed="rId2">
              <a:alphaModFix amt="60000"/>
              <a:extLst>
                <a:ext uri="{28A0092B-C50C-407E-A947-70E740481C1C}">
                  <a14:useLocalDpi xmlns:a14="http://schemas.microsoft.com/office/drawing/2010/main" val="0"/>
                </a:ext>
              </a:extLst>
            </a:blip>
            <a:srcRect/>
            <a:stretch>
              <a:fillRect t="-46364" b="-8130"/>
            </a:stretch>
          </a:blipFill>
        </p:spPr>
        <p:txBody>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BC151189-9025-E7C1-B611-A7A2BD03B499}"/>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46DEA616-DF83-AFFF-BC05-5AF6783B3589}"/>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1BCBF149-C859-79EF-0D12-15B124182A2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068686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4"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8CB16A7-2B91-9487-82EB-D7D51219847E}"/>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48D7B84B-FBFC-D589-881E-D4EA9886A3F0}"/>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80F3CF0F-496C-B902-B8FD-2D816F5CB7AC}"/>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439196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7494" y="687492"/>
            <a:ext cx="6308414" cy="2017614"/>
          </a:xfrm>
        </p:spPr>
        <p:txBody>
          <a:bodyPr anchor="b">
            <a:norm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7494" y="2997200"/>
            <a:ext cx="6308414"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7" y="687492"/>
            <a:ext cx="3878100"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75737" r="-75737"/>
            </a:stretch>
          </a:blipFill>
        </p:spPr>
        <p:txBody>
          <a:bodyPr wrap="square">
            <a:noAutofit/>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0FFD054A-88D2-8AC5-BB55-C59F527695C7}"/>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F085A21E-8763-2E88-7470-09E43DCB7750}"/>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8A399C91-F0A3-3A11-A3D6-7F34DD79D69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395033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5841522" y="687494"/>
            <a:ext cx="5662983" cy="1049291"/>
          </a:xfrm>
        </p:spPr>
        <p:txBody>
          <a:bodyPr anchor="t"/>
          <a:lstStyle/>
          <a:p>
            <a:r>
              <a:rPr lang="en-US"/>
              <a:t>Click to edit Master title style</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678871" y="687492"/>
            <a:ext cx="4452410"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9518" r="-59518"/>
            </a:stretch>
          </a:blipFill>
        </p:spPr>
        <p:txBody>
          <a:bodyPr wrap="square">
            <a:noAutofit/>
          </a:bodyPr>
          <a:lstStyle>
            <a:lvl1pPr marL="0" indent="0">
              <a:buNone/>
              <a:defRPr/>
            </a:lvl1pPr>
          </a:lstStyle>
          <a:p>
            <a:r>
              <a:rPr lang="en-US"/>
              <a:t>   </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5841522" y="2053560"/>
            <a:ext cx="567160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4DF20DA-AED3-283F-9A9E-1F1BCED1D049}"/>
              </a:ext>
            </a:extLst>
          </p:cNvPr>
          <p:cNvSpPr>
            <a:spLocks noGrp="1"/>
          </p:cNvSpPr>
          <p:nvPr>
            <p:ph type="ftr" sz="quarter" idx="17"/>
          </p:nvPr>
        </p:nvSpPr>
        <p:spPr/>
        <p:txBody>
          <a:bodyPr/>
          <a:lstStyle/>
          <a:p>
            <a:endParaRPr lang="en-US"/>
          </a:p>
        </p:txBody>
      </p:sp>
      <p:sp>
        <p:nvSpPr>
          <p:cNvPr id="2" name="Date Placeholder 1">
            <a:extLst>
              <a:ext uri="{FF2B5EF4-FFF2-40B4-BE49-F238E27FC236}">
                <a16:creationId xmlns:a16="http://schemas.microsoft.com/office/drawing/2014/main" id="{CD6F5FD8-373C-BC99-B74A-71C2F138E475}"/>
              </a:ext>
            </a:extLst>
          </p:cNvPr>
          <p:cNvSpPr>
            <a:spLocks noGrp="1"/>
          </p:cNvSpPr>
          <p:nvPr>
            <p:ph type="dt" sz="half" idx="16"/>
          </p:nvPr>
        </p:nvSpPr>
        <p:spPr/>
        <p:txBody>
          <a:bodyPr/>
          <a:lstStyle/>
          <a:p>
            <a:endParaRPr lang="en-US"/>
          </a:p>
        </p:txBody>
      </p:sp>
      <p:sp>
        <p:nvSpPr>
          <p:cNvPr id="5" name="Slide Number Placeholder 4">
            <a:extLst>
              <a:ext uri="{FF2B5EF4-FFF2-40B4-BE49-F238E27FC236}">
                <a16:creationId xmlns:a16="http://schemas.microsoft.com/office/drawing/2014/main" id="{FCDC579E-F3C4-55B0-6D77-9FEBF71C56B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5423756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679869" y="687494"/>
            <a:ext cx="6318225" cy="1049291"/>
          </a:xfrm>
        </p:spPr>
        <p:txBody>
          <a:bodyPr anchor="t"/>
          <a:lstStyle/>
          <a:p>
            <a:r>
              <a:rPr lang="en-US"/>
              <a:t>Click to edit Master title style</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678871" y="2053560"/>
            <a:ext cx="632784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7707542" y="687492"/>
            <a:ext cx="3805587"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67197" r="-67197"/>
            </a:stretch>
          </a:blipFill>
        </p:spPr>
        <p:txBody>
          <a:bodyPr wrap="square">
            <a:noAutofit/>
          </a:bodyPr>
          <a:lstStyle>
            <a:lvl1pPr marL="0" indent="0">
              <a:buNone/>
              <a:defRPr/>
            </a:lvl1pPr>
          </a:lstStyle>
          <a:p>
            <a:r>
              <a:rPr lang="en-US"/>
              <a:t>   </a:t>
            </a:r>
          </a:p>
        </p:txBody>
      </p:sp>
      <p:sp>
        <p:nvSpPr>
          <p:cNvPr id="3" name="Footer Placeholder 2">
            <a:extLst>
              <a:ext uri="{FF2B5EF4-FFF2-40B4-BE49-F238E27FC236}">
                <a16:creationId xmlns:a16="http://schemas.microsoft.com/office/drawing/2014/main" id="{698FC07B-DBB3-6713-7446-1CB062A1752F}"/>
              </a:ext>
            </a:extLst>
          </p:cNvPr>
          <p:cNvSpPr>
            <a:spLocks noGrp="1"/>
          </p:cNvSpPr>
          <p:nvPr>
            <p:ph type="ftr" sz="quarter" idx="17"/>
          </p:nvPr>
        </p:nvSpPr>
        <p:spPr/>
        <p:txBody>
          <a:bodyPr/>
          <a:lstStyle/>
          <a:p>
            <a:endParaRPr lang="en-US"/>
          </a:p>
        </p:txBody>
      </p:sp>
      <p:sp>
        <p:nvSpPr>
          <p:cNvPr id="2" name="Date Placeholder 1">
            <a:extLst>
              <a:ext uri="{FF2B5EF4-FFF2-40B4-BE49-F238E27FC236}">
                <a16:creationId xmlns:a16="http://schemas.microsoft.com/office/drawing/2014/main" id="{CC5CE356-8F45-9528-A1A3-57FFB6F123C7}"/>
              </a:ext>
            </a:extLst>
          </p:cNvPr>
          <p:cNvSpPr>
            <a:spLocks noGrp="1"/>
          </p:cNvSpPr>
          <p:nvPr>
            <p:ph type="dt" sz="half" idx="16"/>
          </p:nvPr>
        </p:nvSpPr>
        <p:spPr/>
        <p:txBody>
          <a:bodyPr/>
          <a:lstStyle/>
          <a:p>
            <a:endParaRPr lang="en-US"/>
          </a:p>
        </p:txBody>
      </p:sp>
      <p:sp>
        <p:nvSpPr>
          <p:cNvPr id="7" name="Slide Number Placeholder 6">
            <a:extLst>
              <a:ext uri="{FF2B5EF4-FFF2-40B4-BE49-F238E27FC236}">
                <a16:creationId xmlns:a16="http://schemas.microsoft.com/office/drawing/2014/main" id="{019DD9CF-D579-D07B-C24D-5A89B1A420D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2471209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3880757"/>
            <a:ext cx="2978729" cy="2282300"/>
          </a:xfrm>
        </p:spPr>
        <p:txBody>
          <a:bodyPr anchor="t">
            <a:norm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732115"/>
            <a:ext cx="10827329" cy="2711216"/>
          </a:xfrm>
          <a:blipFill>
            <a:blip r:embed="rId2">
              <a:alphaModFix amt="60000"/>
              <a:extLst>
                <a:ext uri="{28A0092B-C50C-407E-A947-70E740481C1C}">
                  <a14:useLocalDpi xmlns:a14="http://schemas.microsoft.com/office/drawing/2010/main" val="0"/>
                </a:ext>
              </a:extLst>
            </a:blip>
            <a:srcRect/>
            <a:stretch>
              <a:fillRect t="-84535" b="-39991"/>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8"/>
            <a:ext cx="7404607" cy="22823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E808D1-FDEB-C4DA-A78C-86E9E878FFA9}"/>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ABDC3112-C844-AF9C-BD29-9F54BFB4BEA3}"/>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9853455F-03AC-59D9-5F32-49E6590DEC4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971227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443498" cy="2330454"/>
          </a:xfrm>
        </p:spPr>
        <p:txBody>
          <a:bodyPr anchor="t">
            <a:normAutofit/>
          </a:bodyPr>
          <a:lstStyle>
            <a:lvl1pPr>
              <a:defRPr sz="2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13267" y="685800"/>
            <a:ext cx="6892933"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78871" y="3636524"/>
            <a:ext cx="10827329" cy="2513999"/>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60000"/>
              <a:extLst>
                <a:ext uri="{28A0092B-C50C-407E-A947-70E740481C1C}">
                  <a14:useLocalDpi xmlns:a14="http://schemas.microsoft.com/office/drawing/2010/main" val="0"/>
                </a:ext>
              </a:extLst>
            </a:blip>
            <a:srcRect/>
            <a:stretch>
              <a:fillRect t="-94491" b="-49353"/>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EE71176D-6F59-6E6F-1B64-88FAB9F6DCC5}"/>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21D15A84-35DF-61C1-E0CD-9C9F5E85A15C}"/>
              </a:ext>
            </a:extLst>
          </p:cNvPr>
          <p:cNvSpPr>
            <a:spLocks noGrp="1"/>
          </p:cNvSpPr>
          <p:nvPr>
            <p:ph type="dt" sz="half" idx="15"/>
          </p:nvPr>
        </p:nvSpPr>
        <p:spPr/>
        <p:txBody>
          <a:bodyPr/>
          <a:lstStyle/>
          <a:p>
            <a:endParaRPr lang="en-US"/>
          </a:p>
        </p:txBody>
      </p:sp>
      <p:sp>
        <p:nvSpPr>
          <p:cNvPr id="6" name="Slide Number Placeholder 5">
            <a:extLst>
              <a:ext uri="{FF2B5EF4-FFF2-40B4-BE49-F238E27FC236}">
                <a16:creationId xmlns:a16="http://schemas.microsoft.com/office/drawing/2014/main" id="{D30D8B36-4FE1-E52B-160B-145190055FA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223325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65601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8731" r="-8731"/>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848599" y="1830773"/>
            <a:ext cx="3657601"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9C74D3-4953-87AB-DEFD-DAE552B32F2A}"/>
              </a:ext>
            </a:extLst>
          </p:cNvPr>
          <p:cNvSpPr>
            <a:spLocks noGrp="1"/>
          </p:cNvSpPr>
          <p:nvPr>
            <p:ph type="ftr" sz="quarter" idx="16"/>
          </p:nvPr>
        </p:nvSpPr>
        <p:spPr/>
        <p:txBody>
          <a:bodyPr/>
          <a:lstStyle/>
          <a:p>
            <a:endParaRPr lang="en-US"/>
          </a:p>
        </p:txBody>
      </p:sp>
      <p:sp>
        <p:nvSpPr>
          <p:cNvPr id="5" name="Date Placeholder 4">
            <a:extLst>
              <a:ext uri="{FF2B5EF4-FFF2-40B4-BE49-F238E27FC236}">
                <a16:creationId xmlns:a16="http://schemas.microsoft.com/office/drawing/2014/main" id="{33B4D3FF-FC3B-DF81-D68A-C24A7A51E7F8}"/>
              </a:ext>
            </a:extLst>
          </p:cNvPr>
          <p:cNvSpPr>
            <a:spLocks noGrp="1"/>
          </p:cNvSpPr>
          <p:nvPr>
            <p:ph type="dt" sz="half" idx="15"/>
          </p:nvPr>
        </p:nvSpPr>
        <p:spPr/>
        <p:txBody>
          <a:bodyPr/>
          <a:lstStyle/>
          <a:p>
            <a:endParaRPr lang="en-US"/>
          </a:p>
        </p:txBody>
      </p:sp>
      <p:sp>
        <p:nvSpPr>
          <p:cNvPr id="7" name="Slide Number Placeholder 6">
            <a:extLst>
              <a:ext uri="{FF2B5EF4-FFF2-40B4-BE49-F238E27FC236}">
                <a16:creationId xmlns:a16="http://schemas.microsoft.com/office/drawing/2014/main" id="{E0B1B140-6B27-A9E5-686F-E0A1260B131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270302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51123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25363" r="-25363"/>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62821" y="1830773"/>
            <a:ext cx="5143379"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A4CDA6C-1820-A056-2B4A-240B4D831E43}"/>
              </a:ext>
            </a:extLst>
          </p:cNvPr>
          <p:cNvSpPr>
            <a:spLocks noGrp="1"/>
          </p:cNvSpPr>
          <p:nvPr>
            <p:ph type="ftr" sz="quarter" idx="16"/>
          </p:nvPr>
        </p:nvSpPr>
        <p:spPr/>
        <p:txBody>
          <a:bodyPr/>
          <a:lstStyle/>
          <a:p>
            <a:endParaRPr lang="en-US"/>
          </a:p>
        </p:txBody>
      </p:sp>
      <p:sp>
        <p:nvSpPr>
          <p:cNvPr id="5" name="Date Placeholder 4">
            <a:extLst>
              <a:ext uri="{FF2B5EF4-FFF2-40B4-BE49-F238E27FC236}">
                <a16:creationId xmlns:a16="http://schemas.microsoft.com/office/drawing/2014/main" id="{1E93D0EB-A6DA-C46E-D18F-B61C44EF0422}"/>
              </a:ext>
            </a:extLst>
          </p:cNvPr>
          <p:cNvSpPr>
            <a:spLocks noGrp="1"/>
          </p:cNvSpPr>
          <p:nvPr>
            <p:ph type="dt" sz="half" idx="15"/>
          </p:nvPr>
        </p:nvSpPr>
        <p:spPr/>
        <p:txBody>
          <a:bodyPr/>
          <a:lstStyle/>
          <a:p>
            <a:endParaRPr lang="en-US"/>
          </a:p>
        </p:txBody>
      </p:sp>
      <p:sp>
        <p:nvSpPr>
          <p:cNvPr id="7" name="Slide Number Placeholder 6">
            <a:extLst>
              <a:ext uri="{FF2B5EF4-FFF2-40B4-BE49-F238E27FC236}">
                <a16:creationId xmlns:a16="http://schemas.microsoft.com/office/drawing/2014/main" id="{86BB683A-634D-19CA-3758-07887799DC4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6474239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685800"/>
            <a:ext cx="4274130" cy="1269482"/>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173850"/>
            <a:ext cx="4274130" cy="3963682"/>
          </a:xfrm>
          <a:blipFill>
            <a:blip r:embed="rId2">
              <a:alphaModFix amt="60000"/>
              <a:extLst>
                <a:ext uri="{28A0092B-C50C-407E-A947-70E740481C1C}">
                  <a14:useLocalDpi xmlns:a14="http://schemas.microsoft.com/office/drawing/2010/main" val="0"/>
                </a:ext>
              </a:extLst>
            </a:blip>
            <a:srcRect/>
            <a:stretch>
              <a:fillRect l="-32473" r="-32473"/>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573333" y="685800"/>
            <a:ext cx="5932867" cy="5477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1D79C85-F436-B8CC-25B1-1484A2E6D9E5}"/>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370E5895-9C3C-E2ED-0696-017C51EB8F17}"/>
              </a:ext>
            </a:extLst>
          </p:cNvPr>
          <p:cNvSpPr>
            <a:spLocks noGrp="1"/>
          </p:cNvSpPr>
          <p:nvPr>
            <p:ph type="dt" sz="half" idx="15"/>
          </p:nvPr>
        </p:nvSpPr>
        <p:spPr/>
        <p:txBody>
          <a:bodyPr/>
          <a:lstStyle/>
          <a:p>
            <a:endParaRPr lang="en-US"/>
          </a:p>
        </p:txBody>
      </p:sp>
      <p:sp>
        <p:nvSpPr>
          <p:cNvPr id="5" name="Slide Number Placeholder 4">
            <a:extLst>
              <a:ext uri="{FF2B5EF4-FFF2-40B4-BE49-F238E27FC236}">
                <a16:creationId xmlns:a16="http://schemas.microsoft.com/office/drawing/2014/main" id="{96110E32-BBC0-38C8-4A92-51464FFB2E45}"/>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779145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1763" y="687493"/>
            <a:ext cx="6724438" cy="1446108"/>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8871" y="687492"/>
            <a:ext cx="3435929"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91918" r="-91918"/>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783374" y="2419354"/>
            <a:ext cx="671421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D434C21-9AE9-F631-7C47-0FF6C5942762}"/>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13D4C698-492C-2FAD-95DB-969CC69A6005}"/>
              </a:ext>
            </a:extLst>
          </p:cNvPr>
          <p:cNvSpPr>
            <a:spLocks noGrp="1"/>
          </p:cNvSpPr>
          <p:nvPr>
            <p:ph type="dt" sz="half" idx="15"/>
          </p:nvPr>
        </p:nvSpPr>
        <p:spPr/>
        <p:txBody>
          <a:bodyPr/>
          <a:lstStyle/>
          <a:p>
            <a:endParaRPr lang="en-US"/>
          </a:p>
        </p:txBody>
      </p:sp>
      <p:sp>
        <p:nvSpPr>
          <p:cNvPr id="9" name="Slide Number Placeholder 8">
            <a:extLst>
              <a:ext uri="{FF2B5EF4-FFF2-40B4-BE49-F238E27FC236}">
                <a16:creationId xmlns:a16="http://schemas.microsoft.com/office/drawing/2014/main" id="{85539C1F-4C6E-483B-915F-317EFA8BE922}"/>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124018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6275" y="687493"/>
            <a:ext cx="7379174" cy="144610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78871" y="2419354"/>
            <a:ext cx="736795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8724022" y="687492"/>
            <a:ext cx="2789107"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24830" r="-124830"/>
            </a:stretch>
          </a:blipFill>
        </p:spPr>
        <p:txBody>
          <a:bodyPr wrap="square">
            <a:noAutofit/>
          </a:bodyPr>
          <a:lstStyle>
            <a:lvl1pPr marL="0" indent="0">
              <a:buNone/>
              <a:defRPr/>
            </a:lvl1pPr>
          </a:lstStyle>
          <a:p>
            <a:r>
              <a:rPr lang="en-US"/>
              <a:t>   </a:t>
            </a:r>
          </a:p>
        </p:txBody>
      </p:sp>
      <p:sp>
        <p:nvSpPr>
          <p:cNvPr id="4" name="Footer Placeholder 3">
            <a:extLst>
              <a:ext uri="{FF2B5EF4-FFF2-40B4-BE49-F238E27FC236}">
                <a16:creationId xmlns:a16="http://schemas.microsoft.com/office/drawing/2014/main" id="{DA01B279-14F8-811B-68AF-FDEBF89CFB1F}"/>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2087AEB-2562-14F9-A50E-AD7A31F76ADF}"/>
              </a:ext>
            </a:extLst>
          </p:cNvPr>
          <p:cNvSpPr>
            <a:spLocks noGrp="1"/>
          </p:cNvSpPr>
          <p:nvPr>
            <p:ph type="dt" sz="half" idx="15"/>
          </p:nvPr>
        </p:nvSpPr>
        <p:spPr/>
        <p:txBody>
          <a:bodyPr/>
          <a:lstStyle/>
          <a:p>
            <a:endParaRPr lang="en-US"/>
          </a:p>
        </p:txBody>
      </p:sp>
      <p:sp>
        <p:nvSpPr>
          <p:cNvPr id="9" name="Slide Number Placeholder 8">
            <a:extLst>
              <a:ext uri="{FF2B5EF4-FFF2-40B4-BE49-F238E27FC236}">
                <a16:creationId xmlns:a16="http://schemas.microsoft.com/office/drawing/2014/main" id="{D8BBF552-6277-D4E7-9B98-D4080873F74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1845692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3754218" y="687493"/>
            <a:ext cx="7758911" cy="98890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7494" y="687492"/>
            <a:ext cx="2360507" cy="5483016"/>
          </a:xfrm>
          <a:blipFill>
            <a:blip r:embed="rId2">
              <a:alphaModFix amt="60000"/>
              <a:extLst>
                <a:ext uri="{28A0092B-C50C-407E-A947-70E740481C1C}">
                  <a14:useLocalDpi xmlns:a14="http://schemas.microsoft.com/office/drawing/2010/main" val="0"/>
                </a:ext>
              </a:extLst>
            </a:blip>
            <a:srcRect/>
            <a:stretch>
              <a:fillRect l="-156574" r="-156574"/>
            </a:stretch>
          </a:blipFill>
        </p:spPr>
        <p:txBody>
          <a:bodyPr/>
          <a:lstStyle>
            <a:lvl1pPr marL="0" indent="0">
              <a:buNone/>
              <a:defRPr/>
            </a:lvl1pPr>
          </a:lstStyle>
          <a:p>
            <a:r>
              <a:rPr lang="en-US"/>
              <a:t>   </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3754218" y="1953528"/>
            <a:ext cx="7750288"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B734294-24E0-2032-5C49-55BAB969D42C}"/>
              </a:ext>
            </a:extLst>
          </p:cNvPr>
          <p:cNvSpPr>
            <a:spLocks noGrp="1"/>
          </p:cNvSpPr>
          <p:nvPr>
            <p:ph type="ftr" sz="quarter" idx="16"/>
          </p:nvPr>
        </p:nvSpPr>
        <p:spPr/>
        <p:txBody>
          <a:bodyPr/>
          <a:lstStyle/>
          <a:p>
            <a:endParaRPr lang="en-US"/>
          </a:p>
        </p:txBody>
      </p:sp>
      <p:sp>
        <p:nvSpPr>
          <p:cNvPr id="2" name="Date Placeholder 1">
            <a:extLst>
              <a:ext uri="{FF2B5EF4-FFF2-40B4-BE49-F238E27FC236}">
                <a16:creationId xmlns:a16="http://schemas.microsoft.com/office/drawing/2014/main" id="{4B22AC9E-77BC-1AD2-8EB8-923CDF4BBE01}"/>
              </a:ext>
            </a:extLst>
          </p:cNvPr>
          <p:cNvSpPr>
            <a:spLocks noGrp="1"/>
          </p:cNvSpPr>
          <p:nvPr>
            <p:ph type="dt" sz="half" idx="15"/>
          </p:nvPr>
        </p:nvSpPr>
        <p:spPr/>
        <p:txBody>
          <a:bodyPr/>
          <a:lstStyle/>
          <a:p>
            <a:endParaRPr lang="en-US"/>
          </a:p>
        </p:txBody>
      </p:sp>
      <p:sp>
        <p:nvSpPr>
          <p:cNvPr id="4" name="Slide Number Placeholder 3">
            <a:extLst>
              <a:ext uri="{FF2B5EF4-FFF2-40B4-BE49-F238E27FC236}">
                <a16:creationId xmlns:a16="http://schemas.microsoft.com/office/drawing/2014/main" id="{5A2A8A83-D457-8B0A-7A32-F95024D8D586}"/>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8752796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678131" y="687493"/>
            <a:ext cx="8424453" cy="988908"/>
          </a:xfrm>
        </p:spPr>
        <p:txBody>
          <a:bodyPr anchor="t"/>
          <a:lstStyle/>
          <a:p>
            <a:r>
              <a:rPr lang="en-US"/>
              <a:t>Click to edit Master title style</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678871" y="1953528"/>
            <a:ext cx="8415090"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769355" y="687492"/>
            <a:ext cx="1722308" cy="5483016"/>
          </a:xfrm>
          <a:blipFill>
            <a:blip r:embed="rId2">
              <a:alphaModFix amt="60000"/>
              <a:extLst>
                <a:ext uri="{28A0092B-C50C-407E-A947-70E740481C1C}">
                  <a14:useLocalDpi xmlns:a14="http://schemas.microsoft.com/office/drawing/2010/main" val="0"/>
                </a:ext>
              </a:extLst>
            </a:blip>
            <a:srcRect/>
            <a:stretch>
              <a:fillRect l="-233120" r="-233120"/>
            </a:stretch>
          </a:blipFill>
        </p:spPr>
        <p:txBody>
          <a:bodyPr/>
          <a:lstStyle>
            <a:lvl1pPr marL="0" indent="0">
              <a:buNone/>
              <a:defRPr/>
            </a:lvl1pPr>
          </a:lstStyle>
          <a:p>
            <a:r>
              <a:rPr lang="en-US"/>
              <a:t>   </a:t>
            </a:r>
          </a:p>
        </p:txBody>
      </p:sp>
      <p:sp>
        <p:nvSpPr>
          <p:cNvPr id="3" name="Footer Placeholder 2">
            <a:extLst>
              <a:ext uri="{FF2B5EF4-FFF2-40B4-BE49-F238E27FC236}">
                <a16:creationId xmlns:a16="http://schemas.microsoft.com/office/drawing/2014/main" id="{6963ABC3-6B6D-93A5-5D5C-31E2D53D3F40}"/>
              </a:ext>
            </a:extLst>
          </p:cNvPr>
          <p:cNvSpPr>
            <a:spLocks noGrp="1"/>
          </p:cNvSpPr>
          <p:nvPr>
            <p:ph type="ftr" sz="quarter" idx="16"/>
          </p:nvPr>
        </p:nvSpPr>
        <p:spPr/>
        <p:txBody>
          <a:bodyPr/>
          <a:lstStyle/>
          <a:p>
            <a:endParaRPr lang="en-US"/>
          </a:p>
        </p:txBody>
      </p:sp>
      <p:sp>
        <p:nvSpPr>
          <p:cNvPr id="2" name="Date Placeholder 1">
            <a:extLst>
              <a:ext uri="{FF2B5EF4-FFF2-40B4-BE49-F238E27FC236}">
                <a16:creationId xmlns:a16="http://schemas.microsoft.com/office/drawing/2014/main" id="{C47FF304-5BE8-9322-A906-1705F80BA2A6}"/>
              </a:ext>
            </a:extLst>
          </p:cNvPr>
          <p:cNvSpPr>
            <a:spLocks noGrp="1"/>
          </p:cNvSpPr>
          <p:nvPr>
            <p:ph type="dt" sz="half" idx="15"/>
          </p:nvPr>
        </p:nvSpPr>
        <p:spPr/>
        <p:txBody>
          <a:bodyPr/>
          <a:lstStyle/>
          <a:p>
            <a:endParaRPr lang="en-US"/>
          </a:p>
        </p:txBody>
      </p:sp>
      <p:sp>
        <p:nvSpPr>
          <p:cNvPr id="4" name="Slide Number Placeholder 3">
            <a:extLst>
              <a:ext uri="{FF2B5EF4-FFF2-40B4-BE49-F238E27FC236}">
                <a16:creationId xmlns:a16="http://schemas.microsoft.com/office/drawing/2014/main" id="{A9E9EE94-4C42-847B-A24C-BB0C72B4D29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078386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2855064" cy="2972670"/>
          </a:xfrm>
        </p:spPr>
        <p:txBody>
          <a:bodyPr anchor="t">
            <a:normAutofit/>
          </a:bodyPr>
          <a:lstStyle>
            <a:lvl1pPr>
              <a:defRPr sz="2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0" y="3942324"/>
            <a:ext cx="2855065" cy="2206578"/>
          </a:xfrm>
          <a:blipFill>
            <a:blip r:embed="rId2">
              <a:alphaModFix amt="60000"/>
              <a:extLst>
                <a:ext uri="{28A0092B-C50C-407E-A947-70E740481C1C}">
                  <a14:useLocalDpi xmlns:a14="http://schemas.microsoft.com/office/drawing/2010/main" val="0"/>
                </a:ext>
              </a:extLst>
            </a:blip>
            <a:srcRect/>
            <a:stretch>
              <a:fillRect l="-18733" r="-18733"/>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54267" y="687492"/>
            <a:ext cx="7348626" cy="54830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BD4A13-0539-3541-39AF-1B480EBA2F2D}"/>
              </a:ext>
            </a:extLst>
          </p:cNvPr>
          <p:cNvSpPr>
            <a:spLocks noGrp="1"/>
          </p:cNvSpPr>
          <p:nvPr>
            <p:ph type="ftr" sz="quarter" idx="16"/>
          </p:nvPr>
        </p:nvSpPr>
        <p:spPr/>
        <p:txBody>
          <a:bodyPr/>
          <a:lstStyle/>
          <a:p>
            <a:endParaRPr lang="en-US"/>
          </a:p>
        </p:txBody>
      </p:sp>
      <p:sp>
        <p:nvSpPr>
          <p:cNvPr id="5" name="Date Placeholder 4">
            <a:extLst>
              <a:ext uri="{FF2B5EF4-FFF2-40B4-BE49-F238E27FC236}">
                <a16:creationId xmlns:a16="http://schemas.microsoft.com/office/drawing/2014/main" id="{FB8ACC0E-954E-D09D-5796-336CDFE59B7E}"/>
              </a:ext>
            </a:extLst>
          </p:cNvPr>
          <p:cNvSpPr>
            <a:spLocks noGrp="1"/>
          </p:cNvSpPr>
          <p:nvPr>
            <p:ph type="dt" sz="half" idx="15"/>
          </p:nvPr>
        </p:nvSpPr>
        <p:spPr/>
        <p:txBody>
          <a:bodyPr/>
          <a:lstStyle/>
          <a:p>
            <a:endParaRPr lang="en-US"/>
          </a:p>
        </p:txBody>
      </p:sp>
      <p:sp>
        <p:nvSpPr>
          <p:cNvPr id="9" name="Slide Number Placeholder 8">
            <a:extLst>
              <a:ext uri="{FF2B5EF4-FFF2-40B4-BE49-F238E27FC236}">
                <a16:creationId xmlns:a16="http://schemas.microsoft.com/office/drawing/2014/main" id="{2AB00B6B-DAF9-BF70-8202-C26BBB5E7434}"/>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9165944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26CE28-2F47-41A4-DF25-8AEC2F9F9580}"/>
              </a:ext>
            </a:extLst>
          </p:cNvPr>
          <p:cNvSpPr>
            <a:spLocks noGrp="1"/>
          </p:cNvSpPr>
          <p:nvPr>
            <p:ph type="title"/>
          </p:nvPr>
        </p:nvSpPr>
        <p:spPr>
          <a:xfrm>
            <a:off x="678872" y="5027214"/>
            <a:ext cx="7620000" cy="1135842"/>
          </a:xfrm>
        </p:spPr>
        <p:txBody>
          <a:bodyPr anchor="t">
            <a:normAutofit/>
          </a:bodyPr>
          <a:lstStyle>
            <a:lvl1pPr>
              <a:defRPr sz="2000"/>
            </a:lvl1pPr>
          </a:lstStyle>
          <a:p>
            <a:r>
              <a:rPr lang="en-US"/>
              <a:t>Click to edit Master title style</a:t>
            </a:r>
          </a:p>
        </p:txBody>
      </p:sp>
      <p:sp>
        <p:nvSpPr>
          <p:cNvPr id="8" name="Content Placeholder 7">
            <a:extLst>
              <a:ext uri="{FF2B5EF4-FFF2-40B4-BE49-F238E27FC236}">
                <a16:creationId xmlns:a16="http://schemas.microsoft.com/office/drawing/2014/main" id="{857B16B5-93A5-3ACF-80AB-6B1967DD6DE4}"/>
              </a:ext>
            </a:extLst>
          </p:cNvPr>
          <p:cNvSpPr>
            <a:spLocks noGrp="1"/>
          </p:cNvSpPr>
          <p:nvPr>
            <p:ph sz="quarter" idx="14" hasCustomPrompt="1"/>
          </p:nvPr>
        </p:nvSpPr>
        <p:spPr>
          <a:xfrm>
            <a:off x="678872" y="2743201"/>
            <a:ext cx="5638800" cy="2284013"/>
          </a:xfrm>
        </p:spPr>
        <p:txBody>
          <a:bodyPr anchor="b"/>
          <a:lstStyle>
            <a:lvl1pPr marL="0" indent="0">
              <a:buNone/>
              <a:defRPr sz="13800"/>
            </a:lvl1pPr>
          </a:lstStyle>
          <a:p>
            <a:pPr lvl="0"/>
            <a:r>
              <a:rPr lang="en-US"/>
              <a:t>##%</a:t>
            </a:r>
          </a:p>
        </p:txBody>
      </p:sp>
    </p:spTree>
    <p:extLst>
      <p:ext uri="{BB962C8B-B14F-4D97-AF65-F5344CB8AC3E}">
        <p14:creationId xmlns:p14="http://schemas.microsoft.com/office/powerpoint/2010/main" val="37625306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562600" y="4800600"/>
            <a:ext cx="5943600" cy="1388534"/>
          </a:xfrm>
        </p:spPr>
        <p:txBody>
          <a:bodyPr vert="horz" lIns="91440" tIns="45720" rIns="91440" bIns="45720" rtlCol="0" anchor="t">
            <a:normAutofit/>
          </a:bodyPr>
          <a:lstStyle>
            <a:lvl1pPr algn="r">
              <a:lnSpc>
                <a:spcPct val="110000"/>
              </a:lnSpc>
              <a:defRPr lang="en-US" sz="2000" dirty="0">
                <a:latin typeface="+mn-lt"/>
              </a:defRPr>
            </a:lvl1pPr>
          </a:lstStyle>
          <a:p>
            <a:pPr lvl="0">
              <a:lnSpc>
                <a:spcPct val="110000"/>
              </a:lnSpc>
            </a:pPr>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562601" y="1676400"/>
            <a:ext cx="5943600" cy="3124200"/>
          </a:xfrm>
        </p:spPr>
        <p:txBody>
          <a:bodyPr vert="horz" lIns="91440" tIns="45720" rIns="91440" bIns="45720" rtlCol="0" anchor="b">
            <a:normAutofit/>
          </a:bodyPr>
          <a:lstStyle>
            <a:lvl1pPr marL="0" indent="0" algn="r">
              <a:lnSpc>
                <a:spcPct val="90000"/>
              </a:lnSpc>
              <a:buNone/>
              <a:defRPr lang="en-US" sz="13800" b="0" dirty="0">
                <a:latin typeface="+mj-lt"/>
              </a:defRPr>
            </a:lvl1pPr>
          </a:lstStyle>
          <a:p>
            <a:pPr marL="0" lvl="0" indent="0">
              <a:lnSpc>
                <a:spcPct val="90000"/>
              </a:lnSpc>
              <a:buNone/>
            </a:pPr>
            <a:r>
              <a:rPr lang="en-US"/>
              <a:t>##%</a:t>
            </a:r>
          </a:p>
        </p:txBody>
      </p:sp>
    </p:spTree>
    <p:extLst>
      <p:ext uri="{BB962C8B-B14F-4D97-AF65-F5344CB8AC3E}">
        <p14:creationId xmlns:p14="http://schemas.microsoft.com/office/powerpoint/2010/main" val="11285560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860804" y="4191001"/>
            <a:ext cx="8470392" cy="1762537"/>
          </a:xfrm>
        </p:spPr>
        <p:txBody>
          <a:bodyPr anchor="t">
            <a:normAutofit/>
          </a:bodyPr>
          <a:lstStyle>
            <a:lvl1pPr algn="ctr">
              <a:lnSpc>
                <a:spcPct val="110000"/>
              </a:lnSpc>
              <a:defRPr lang="en-US" sz="2000" b="0" kern="1200" cap="all" spc="600" baseline="0">
                <a:solidFill>
                  <a:schemeClr val="tx1"/>
                </a:solidFill>
                <a:latin typeface="+mn-lt"/>
                <a:ea typeface="+mj-ea"/>
                <a:cs typeface="+mj-cs"/>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860804" y="694935"/>
            <a:ext cx="8470392" cy="3496065"/>
          </a:xfrm>
        </p:spPr>
        <p:txBody>
          <a:bodyPr anchor="b">
            <a:normAutofit/>
          </a:bodyPr>
          <a:lstStyle>
            <a:lvl1pPr marL="0" indent="0" algn="ctr">
              <a:lnSpc>
                <a:spcPct val="90000"/>
              </a:lnSpc>
              <a:buNone/>
              <a:defRPr sz="13800" b="0">
                <a:solidFill>
                  <a:schemeClr val="tx1"/>
                </a:solidFill>
                <a:latin typeface="+mj-lt"/>
              </a:defRPr>
            </a:lvl1pPr>
          </a:lstStyle>
          <a:p>
            <a:pPr lvl="0"/>
            <a:r>
              <a:rPr lang="en-US"/>
              <a:t>##%</a:t>
            </a:r>
          </a:p>
        </p:txBody>
      </p:sp>
    </p:spTree>
    <p:extLst>
      <p:ext uri="{BB962C8B-B14F-4D97-AF65-F5344CB8AC3E}">
        <p14:creationId xmlns:p14="http://schemas.microsoft.com/office/powerpoint/2010/main" val="31882432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39147" y="1830774"/>
            <a:ext cx="9113707" cy="3196443"/>
          </a:xfrm>
        </p:spPr>
        <p:txBody>
          <a:bodyPr vert="horz" lIns="91440" tIns="45720" rIns="91440" bIns="45720" rtlCol="0" anchor="ctr">
            <a:normAutofit/>
          </a:bodyPr>
          <a:lstStyle>
            <a:lvl1pPr marL="0" indent="0" algn="ctr">
              <a:lnSpc>
                <a:spcPct val="90000"/>
              </a:lnSpc>
              <a:buNone/>
              <a:defRPr lang="en-US" sz="4000" b="0" cap="all" spc="600" baseline="0" dirty="0">
                <a:ea typeface="+mj-ea"/>
                <a:cs typeface="+mj-cs"/>
              </a:defRPr>
            </a:lvl1pPr>
            <a:lvl2pPr marL="228600" indent="0" algn="ctr">
              <a:lnSpc>
                <a:spcPct val="90000"/>
              </a:lnSpc>
              <a:buNone/>
              <a:defRPr lang="en-US" sz="2000" dirty="0"/>
            </a:lvl2pPr>
            <a:lvl3pPr marL="457200" indent="0" algn="ctr">
              <a:lnSpc>
                <a:spcPct val="90000"/>
              </a:lnSpc>
              <a:buNone/>
              <a:defRPr lang="en-US" sz="2000" dirty="0"/>
            </a:lvl3pPr>
            <a:lvl4pPr marL="685800" indent="0" algn="ctr">
              <a:lnSpc>
                <a:spcPct val="90000"/>
              </a:lnSpc>
              <a:buNone/>
              <a:defRPr lang="en-US" sz="2000" dirty="0"/>
            </a:lvl4pPr>
            <a:lvl5pPr marL="914400" indent="0" algn="ctr">
              <a:lnSpc>
                <a:spcPct val="90000"/>
              </a:lnSpc>
              <a:buNone/>
              <a:defRPr lang="en-US" sz="2000" dirty="0"/>
            </a:lvl5pPr>
          </a:lstStyle>
          <a:p>
            <a:pPr lvl="0">
              <a:spcBef>
                <a:spcPct val="0"/>
              </a:spcBef>
              <a:buNone/>
            </a:pPr>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62055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78871" y="1325691"/>
            <a:ext cx="7169728" cy="4837366"/>
          </a:xfrm>
        </p:spPr>
        <p:txBody>
          <a:bodyPr anchor="b">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9320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6" name="Content Placeholder 6">
            <a:extLst>
              <a:ext uri="{FF2B5EF4-FFF2-40B4-BE49-F238E27FC236}">
                <a16:creationId xmlns:a16="http://schemas.microsoft.com/office/drawing/2014/main" id="{2A9D377F-07AE-65AF-821F-A5C0F12804B3}"/>
              </a:ext>
            </a:extLst>
          </p:cNvPr>
          <p:cNvSpPr>
            <a:spLocks noGrp="1"/>
          </p:cNvSpPr>
          <p:nvPr>
            <p:ph sz="quarter" idx="13" hasCustomPrompt="1"/>
          </p:nvPr>
        </p:nvSpPr>
        <p:spPr>
          <a:xfrm>
            <a:off x="678871" y="720332"/>
            <a:ext cx="6702552" cy="4306886"/>
          </a:xfrm>
        </p:spPr>
        <p:txBody>
          <a:bodyPr anchor="t">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30453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105400" y="5440680"/>
            <a:ext cx="6400800" cy="640080"/>
          </a:xfrm>
        </p:spPr>
        <p:txBody>
          <a:bodyPr anchor="ctr">
            <a:normAutofit/>
          </a:bodyPr>
          <a:lstStyle>
            <a:lvl1pPr algn="r">
              <a:lnSpc>
                <a:spcPct val="120000"/>
              </a:lnSpc>
              <a:defRPr sz="1600" spc="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105400" y="1600200"/>
            <a:ext cx="6400800" cy="3332480"/>
          </a:xfrm>
        </p:spPr>
        <p:txBody>
          <a:bodyPr anchor="b">
            <a:normAutofit/>
          </a:bodyPr>
          <a:lstStyle>
            <a:lvl1pPr marL="164592" indent="-164592" algn="r">
              <a:lnSpc>
                <a:spcPct val="10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37871555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A93739-F149-35A6-ADA9-A0193DD6D4F2}"/>
              </a:ext>
            </a:extLst>
          </p:cNvPr>
          <p:cNvSpPr>
            <a:spLocks noGrp="1"/>
          </p:cNvSpPr>
          <p:nvPr>
            <p:ph type="title" hasCustomPrompt="1"/>
          </p:nvPr>
        </p:nvSpPr>
        <p:spPr>
          <a:xfrm>
            <a:off x="678872" y="5440354"/>
            <a:ext cx="5102352" cy="669472"/>
          </a:xfrm>
        </p:spPr>
        <p:txBody>
          <a:bodyPr anchor="ctr"/>
          <a:lstStyle>
            <a:lvl1pPr>
              <a:lnSpc>
                <a:spcPct val="120000"/>
              </a:lnSpc>
              <a:defRPr sz="1600" spc="0" baseline="0"/>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78872" y="914400"/>
            <a:ext cx="5102352" cy="4206240"/>
          </a:xfrm>
        </p:spPr>
        <p:txBody>
          <a:bodyPr anchor="b">
            <a:normAutofit/>
          </a:bodyPr>
          <a:lstStyle>
            <a:lvl1pPr marL="0" indent="0">
              <a:lnSpc>
                <a:spcPct val="10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66298963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943EF64-B72A-842D-443E-85E51FB9C0C7}"/>
              </a:ext>
            </a:extLst>
          </p:cNvPr>
          <p:cNvSpPr>
            <a:spLocks noGrp="1"/>
          </p:cNvSpPr>
          <p:nvPr>
            <p:ph type="title" hasCustomPrompt="1"/>
          </p:nvPr>
        </p:nvSpPr>
        <p:spPr>
          <a:xfrm>
            <a:off x="2895600" y="4602480"/>
            <a:ext cx="6400800" cy="640080"/>
          </a:xfrm>
        </p:spPr>
        <p:txBody>
          <a:bodyPr anchor="ctr">
            <a:normAutofit/>
          </a:bodyPr>
          <a:lstStyle>
            <a:lvl1pPr algn="ctr">
              <a:lnSpc>
                <a:spcPct val="120000"/>
              </a:lnSpc>
              <a:defRPr sz="1600" spc="0">
                <a:solidFill>
                  <a:schemeClr val="tx1"/>
                </a:solidFill>
                <a:latin typeface="+mn-lt"/>
              </a:defRPr>
            </a:lvl1pPr>
          </a:lstStyle>
          <a:p>
            <a:r>
              <a:rPr lang="en-US"/>
              <a:t>Quote Author</a:t>
            </a:r>
          </a:p>
        </p:txBody>
      </p:sp>
      <p:sp>
        <p:nvSpPr>
          <p:cNvPr id="4" name="Content Placeholder 6">
            <a:extLst>
              <a:ext uri="{FF2B5EF4-FFF2-40B4-BE49-F238E27FC236}">
                <a16:creationId xmlns:a16="http://schemas.microsoft.com/office/drawing/2014/main" id="{0648D1EC-4439-0A29-775B-BBF446B5FEC6}"/>
              </a:ext>
            </a:extLst>
          </p:cNvPr>
          <p:cNvSpPr>
            <a:spLocks noGrp="1"/>
          </p:cNvSpPr>
          <p:nvPr>
            <p:ph sz="quarter" idx="13" hasCustomPrompt="1"/>
          </p:nvPr>
        </p:nvSpPr>
        <p:spPr>
          <a:xfrm>
            <a:off x="1466850" y="1143000"/>
            <a:ext cx="9258300" cy="2951480"/>
          </a:xfrm>
        </p:spPr>
        <p:txBody>
          <a:bodyPr anchor="b">
            <a:normAutofit/>
          </a:bodyPr>
          <a:lstStyle>
            <a:lvl1pPr marL="164592" indent="-164592" algn="ctr">
              <a:lnSpc>
                <a:spcPct val="10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179587772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948E0A-DAAD-770F-21DF-99504CDB6948}"/>
              </a:ext>
            </a:extLst>
          </p:cNvPr>
          <p:cNvSpPr>
            <a:spLocks noGrp="1"/>
          </p:cNvSpPr>
          <p:nvPr>
            <p:ph type="title"/>
          </p:nvPr>
        </p:nvSpPr>
        <p:spPr>
          <a:xfrm>
            <a:off x="678871" y="694932"/>
            <a:ext cx="10827330" cy="985966"/>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6122" y="2057399"/>
            <a:ext cx="5140007"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365872" y="2057399"/>
            <a:ext cx="5140328"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EA833E-541C-85C6-BF1E-EC605C8F4B39}"/>
              </a:ext>
            </a:extLst>
          </p:cNvPr>
          <p:cNvSpPr>
            <a:spLocks noGrp="1"/>
          </p:cNvSpPr>
          <p:nvPr>
            <p:ph type="ftr" sz="quarter" idx="18"/>
          </p:nvPr>
        </p:nvSpPr>
        <p:spPr/>
        <p:txBody>
          <a:bodyPr/>
          <a:lstStyle/>
          <a:p>
            <a:endParaRPr lang="en-US"/>
          </a:p>
        </p:txBody>
      </p:sp>
      <p:sp>
        <p:nvSpPr>
          <p:cNvPr id="2" name="Date Placeholder 1">
            <a:extLst>
              <a:ext uri="{FF2B5EF4-FFF2-40B4-BE49-F238E27FC236}">
                <a16:creationId xmlns:a16="http://schemas.microsoft.com/office/drawing/2014/main" id="{F14C70C3-D6A0-EE88-649F-33534359824B}"/>
              </a:ext>
            </a:extLst>
          </p:cNvPr>
          <p:cNvSpPr>
            <a:spLocks noGrp="1"/>
          </p:cNvSpPr>
          <p:nvPr>
            <p:ph type="dt" sz="half" idx="17"/>
          </p:nvPr>
        </p:nvSpPr>
        <p:spPr/>
        <p:txBody>
          <a:bodyPr/>
          <a:lstStyle/>
          <a:p>
            <a:endParaRPr lang="en-US"/>
          </a:p>
        </p:txBody>
      </p:sp>
      <p:sp>
        <p:nvSpPr>
          <p:cNvPr id="6" name="Slide Number Placeholder 5">
            <a:extLst>
              <a:ext uri="{FF2B5EF4-FFF2-40B4-BE49-F238E27FC236}">
                <a16:creationId xmlns:a16="http://schemas.microsoft.com/office/drawing/2014/main" id="{05795649-E940-A4B1-5901-B56C3AF3CD3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639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B7E0276-8109-589D-7633-DD4218D7AD4D}"/>
              </a:ext>
            </a:extLst>
          </p:cNvPr>
          <p:cNvSpPr>
            <a:spLocks noGrp="1"/>
          </p:cNvSpPr>
          <p:nvPr>
            <p:ph type="title"/>
          </p:nvPr>
        </p:nvSpPr>
        <p:spPr>
          <a:xfrm>
            <a:off x="678870" y="694932"/>
            <a:ext cx="10827329" cy="985966"/>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78870" y="1954766"/>
            <a:ext cx="514741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65774" y="1954766"/>
            <a:ext cx="5141914"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068456CB-E141-4FD9-87C3-ECEBF8A7D9A1}"/>
              </a:ext>
            </a:extLst>
          </p:cNvPr>
          <p:cNvSpPr>
            <a:spLocks noGrp="1"/>
          </p:cNvSpPr>
          <p:nvPr>
            <p:ph sz="quarter" idx="15"/>
          </p:nvPr>
        </p:nvSpPr>
        <p:spPr>
          <a:xfrm>
            <a:off x="680459" y="2788468"/>
            <a:ext cx="5145670"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48C7E4C7-BE12-E106-3871-9FD922E346B3}"/>
              </a:ext>
            </a:extLst>
          </p:cNvPr>
          <p:cNvSpPr>
            <a:spLocks noGrp="1"/>
          </p:cNvSpPr>
          <p:nvPr>
            <p:ph sz="quarter" idx="16"/>
          </p:nvPr>
        </p:nvSpPr>
        <p:spPr>
          <a:xfrm>
            <a:off x="6365871" y="2788468"/>
            <a:ext cx="5140177"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F60D6F2-E303-8711-DD86-38797649A730}"/>
              </a:ext>
            </a:extLst>
          </p:cNvPr>
          <p:cNvSpPr>
            <a:spLocks noGrp="1"/>
          </p:cNvSpPr>
          <p:nvPr>
            <p:ph type="ftr" sz="quarter" idx="18"/>
          </p:nvPr>
        </p:nvSpPr>
        <p:spPr/>
        <p:txBody>
          <a:bodyPr/>
          <a:lstStyle/>
          <a:p>
            <a:endParaRPr lang="en-US"/>
          </a:p>
        </p:txBody>
      </p:sp>
      <p:sp>
        <p:nvSpPr>
          <p:cNvPr id="2" name="Date Placeholder 1">
            <a:extLst>
              <a:ext uri="{FF2B5EF4-FFF2-40B4-BE49-F238E27FC236}">
                <a16:creationId xmlns:a16="http://schemas.microsoft.com/office/drawing/2014/main" id="{7C3E9AFB-293B-FDFA-726C-92E53E70E9AF}"/>
              </a:ext>
            </a:extLst>
          </p:cNvPr>
          <p:cNvSpPr>
            <a:spLocks noGrp="1"/>
          </p:cNvSpPr>
          <p:nvPr>
            <p:ph type="dt" sz="half" idx="17"/>
          </p:nvPr>
        </p:nvSpPr>
        <p:spPr/>
        <p:txBody>
          <a:bodyPr/>
          <a:lstStyle/>
          <a:p>
            <a:endParaRPr lang="en-US"/>
          </a:p>
        </p:txBody>
      </p:sp>
      <p:sp>
        <p:nvSpPr>
          <p:cNvPr id="6" name="Slide Number Placeholder 5">
            <a:extLst>
              <a:ext uri="{FF2B5EF4-FFF2-40B4-BE49-F238E27FC236}">
                <a16:creationId xmlns:a16="http://schemas.microsoft.com/office/drawing/2014/main" id="{365AF8AA-F8D4-60EA-F11A-6775234BA52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4530752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A025B8-8BA0-89AA-4360-51FBAF2B224B}"/>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Footer Placeholder 2">
            <a:extLst>
              <a:ext uri="{FF2B5EF4-FFF2-40B4-BE49-F238E27FC236}">
                <a16:creationId xmlns:a16="http://schemas.microsoft.com/office/drawing/2014/main" id="{BAC59BD1-7576-196A-D571-FD57E7190429}"/>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D684E8B1-4F38-9B1B-6424-6BC2452D4DE6}"/>
              </a:ext>
            </a:extLst>
          </p:cNvPr>
          <p:cNvSpPr>
            <a:spLocks noGrp="1"/>
          </p:cNvSpPr>
          <p:nvPr>
            <p:ph type="dt" sz="half" idx="10"/>
          </p:nvPr>
        </p:nvSpPr>
        <p:spPr/>
        <p:txBody>
          <a:bodyPr/>
          <a:lstStyle/>
          <a:p>
            <a:endParaRPr lang="en-US"/>
          </a:p>
        </p:txBody>
      </p:sp>
      <p:sp>
        <p:nvSpPr>
          <p:cNvPr id="4" name="Slide Number Placeholder 3">
            <a:extLst>
              <a:ext uri="{FF2B5EF4-FFF2-40B4-BE49-F238E27FC236}">
                <a16:creationId xmlns:a16="http://schemas.microsoft.com/office/drawing/2014/main" id="{2004E196-21CE-CE9F-7563-03912CCB4D6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966520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5B9ECF3-58F8-D0BC-147E-E4CFB4923C49}"/>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5C939631-83CC-B848-B327-B33DAF5AF158}"/>
              </a:ext>
            </a:extLst>
          </p:cNvPr>
          <p:cNvSpPr>
            <a:spLocks noGrp="1"/>
          </p:cNvSpPr>
          <p:nvPr>
            <p:ph type="dt" sz="half" idx="10"/>
          </p:nvPr>
        </p:nvSpPr>
        <p:spPr/>
        <p:txBody>
          <a:bodyPr/>
          <a:lstStyle/>
          <a:p>
            <a:endParaRPr lang="en-US"/>
          </a:p>
        </p:txBody>
      </p:sp>
      <p:sp>
        <p:nvSpPr>
          <p:cNvPr id="4" name="Slide Number Placeholder 3">
            <a:extLst>
              <a:ext uri="{FF2B5EF4-FFF2-40B4-BE49-F238E27FC236}">
                <a16:creationId xmlns:a16="http://schemas.microsoft.com/office/drawing/2014/main" id="{68070C40-BA47-C8B9-46F3-E3616FAC2C2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573419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2" y="685800"/>
            <a:ext cx="3962398" cy="1616185"/>
          </a:xfrm>
        </p:spPr>
        <p:txBody>
          <a:bodyPr anchor="t">
            <a:normAutofit/>
          </a:bodyPr>
          <a:lstStyle>
            <a:lvl1pPr>
              <a:defRPr sz="24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85801" y="2590800"/>
            <a:ext cx="3962399" cy="3572257"/>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85800"/>
            <a:ext cx="6371491" cy="546812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64901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78871" y="685800"/>
            <a:ext cx="4242643" cy="1624931"/>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0679" y="2826137"/>
            <a:ext cx="4230787" cy="333692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698756"/>
            <a:ext cx="6165717" cy="5442639"/>
          </a:xfrm>
          <a:blipFill>
            <a:blip r:embed="rId2">
              <a:alphaModFix amt="60000"/>
              <a:extLst>
                <a:ext uri="{28A0092B-C50C-407E-A947-70E740481C1C}">
                  <a14:useLocalDpi xmlns:a14="http://schemas.microsoft.com/office/drawing/2010/main" val="0"/>
                </a:ext>
              </a:extLst>
            </a:blip>
            <a:srcRect/>
            <a:stretch>
              <a:fillRect l="-28837" r="-28837"/>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5120505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685800"/>
            <a:ext cx="5417129" cy="1819664"/>
          </a:xfrm>
        </p:spPr>
        <p:txBody>
          <a:bodyPr anchor="t">
            <a:no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78871" y="3276599"/>
            <a:ext cx="10827329" cy="288645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6179F71-BB04-AC80-5A43-4718DF5050BB}"/>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B2C1D9A8-162F-30DE-21D0-F531C2AC38B5}"/>
              </a:ext>
            </a:extLst>
          </p:cNvPr>
          <p:cNvSpPr>
            <a:spLocks noGrp="1"/>
          </p:cNvSpPr>
          <p:nvPr>
            <p:ph type="dt" sz="half" idx="14"/>
          </p:nvPr>
        </p:nvSpPr>
        <p:spPr/>
        <p:txBody>
          <a:bodyPr/>
          <a:lstStyle/>
          <a:p>
            <a:endParaRPr lang="en-US"/>
          </a:p>
        </p:txBody>
      </p:sp>
      <p:sp>
        <p:nvSpPr>
          <p:cNvPr id="5" name="Slide Number Placeholder 4">
            <a:extLst>
              <a:ext uri="{FF2B5EF4-FFF2-40B4-BE49-F238E27FC236}">
                <a16:creationId xmlns:a16="http://schemas.microsoft.com/office/drawing/2014/main" id="{91903FBD-DD44-33D2-4C38-3C6BF9FB5E0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710904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06305"/>
            <a:ext cx="6370507" cy="1842020"/>
          </a:xfrm>
        </p:spPr>
        <p:txBody>
          <a:bodyPr anchor="b">
            <a:no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78871" y="2701660"/>
            <a:ext cx="6370507" cy="2325557"/>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09DDBCCE-CCAB-448A-1E13-595ADE9E2A88}"/>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1" name="Slide Number Placeholder 5">
            <a:extLst>
              <a:ext uri="{FF2B5EF4-FFF2-40B4-BE49-F238E27FC236}">
                <a16:creationId xmlns:a16="http://schemas.microsoft.com/office/drawing/2014/main" id="{02C093BF-07F3-517D-599F-4A80C3D441E7}"/>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36746163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AEAA3239-9EA4-4A65-A281-97F994456D9F}" type="slidenum">
              <a:rPr lang="en-US" smtClean="0"/>
              <a:pPr/>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2328726"/>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26433853"/>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12765744"/>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90618688"/>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AA3239-9EA4-4A65-A281-97F994456D9F}" type="slidenum">
              <a:rPr lang="en-US" smtClean="0"/>
              <a:pPr/>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53915105"/>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AA3239-9EA4-4A65-A281-97F994456D9F}" type="slidenum">
              <a:rPr lang="en-US" smtClean="0"/>
              <a:pPr/>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4099633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508878"/>
      </p:ext>
    </p:extLst>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6/9/2026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3702989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61BEF0D-F0BB-DE4B-95CE-6DB70DBA9567}" type="datetimeFigureOut">
              <a:rPr lang="en-US" smtClean="0"/>
              <a:pPr/>
              <a:t>6/9/2026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8717086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03068762"/>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44325482"/>
      </p:ext>
    </p:extLst>
  </p:cSld>
  <p:clrMapOvr>
    <a:masterClrMapping/>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AEAA3239-9EA4-4A65-A281-97F994456D9F}" type="slidenum">
              <a:rPr lang="en-US" smtClean="0"/>
              <a:pPr/>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74544490"/>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63363106"/>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59008956"/>
      </p:ext>
    </p:extLst>
  </p:cSld>
  <p:clrMapOvr>
    <a:masterClrMapping/>
  </p:clrMapOvr>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5549362"/>
      </p:ext>
    </p:extLst>
  </p:cSld>
  <p:clrMapOvr>
    <a:masterClrMapping/>
  </p:clrMapOvr>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AA3239-9EA4-4A65-A281-97F994456D9F}" type="slidenum">
              <a:rPr lang="en-US" smtClean="0"/>
              <a:pPr/>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5131640"/>
      </p:ext>
    </p:extLst>
  </p:cSld>
  <p:clrMapOvr>
    <a:masterClrMapping/>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AA3239-9EA4-4A65-A281-97F994456D9F}" type="slidenum">
              <a:rPr lang="en-US" smtClean="0"/>
              <a:pPr/>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602727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225765521"/>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78612428"/>
      </p:ext>
    </p:extLst>
  </p:cSld>
  <p:clrMapOvr>
    <a:masterClrMapping/>
  </p:clrMapOvr>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61BEF0D-F0BB-DE4B-95CE-6DB70DBA9567}" type="datetimeFigureOut">
              <a:rPr lang="en-US" smtClean="0"/>
              <a:pPr/>
              <a:t>6/9/2026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456602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57050549"/>
      </p:ext>
    </p:extLst>
  </p:cSld>
  <p:clrMapOvr>
    <a:masterClrMapping/>
  </p:clrMapOvr>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7570401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image" Target="../media/image24.jpg"/><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theme" Target="../theme/theme2.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image" Target="../media/image24.jpg"/><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3.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78871" y="694938"/>
            <a:ext cx="10825637" cy="79208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78872" y="1676400"/>
            <a:ext cx="10825636" cy="44866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hidden="1">
            <a:extLst>
              <a:ext uri="{FF2B5EF4-FFF2-40B4-BE49-F238E27FC236}">
                <a16:creationId xmlns:a16="http://schemas.microsoft.com/office/drawing/2014/main" id="{D7982C74-1A7B-1EF6-C767-EC1102B8BC05}"/>
              </a:ext>
            </a:extLst>
          </p:cNvPr>
          <p:cNvSpPr/>
          <p:nvPr/>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hidden="1">
            <a:extLst>
              <a:ext uri="{FF2B5EF4-FFF2-40B4-BE49-F238E27FC236}">
                <a16:creationId xmlns:a16="http://schemas.microsoft.com/office/drawing/2014/main" id="{1C58F15E-3B29-FA0D-33D1-930904DB63AC}"/>
              </a:ext>
            </a:extLst>
          </p:cNvPr>
          <p:cNvSpPr/>
          <p:nvPr userDrawn="1"/>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3">
            <a:extLst>
              <a:ext uri="{FF2B5EF4-FFF2-40B4-BE49-F238E27FC236}">
                <a16:creationId xmlns:a16="http://schemas.microsoft.com/office/drawing/2014/main" id="{CACE51C6-D285-36B9-E05D-34304BF86607}"/>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53C65791-CE33-6F98-64A9-9C6803567DBD}"/>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rtl="0">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9C4E2BDE-BF41-53AE-AAF9-E1E0BE6AB889}"/>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rtl="0">
              <a:defRPr sz="900">
                <a:solidFill>
                  <a:schemeClr val="tx1"/>
                </a:solidFill>
              </a:defRPr>
            </a:lvl1pPr>
          </a:lstStyle>
          <a:p>
            <a:fld id="{AEAA3239-9EA4-4A65-A281-97F994456D9F}" type="slidenum">
              <a:rPr lang="en-US" smtClean="0"/>
              <a:pPr/>
              <a:t>‹#›</a:t>
            </a:fld>
            <a:endParaRPr lang="en-US"/>
          </a:p>
        </p:txBody>
      </p:sp>
      <p:sp>
        <p:nvSpPr>
          <p:cNvPr id="5" name="TextBox 4">
            <a:extLst>
              <a:ext uri="{FF2B5EF4-FFF2-40B4-BE49-F238E27FC236}">
                <a16:creationId xmlns:a16="http://schemas.microsoft.com/office/drawing/2014/main" id="{6BFF060E-8140-1886-B8ED-A6E5675C9051}"/>
              </a:ext>
            </a:extLst>
          </p:cNvPr>
          <p:cNvSpPr txBox="1"/>
          <p:nvPr userDrawn="1">
            <p:extLst>
              <p:ext uri="{1162E1C5-73C7-4A58-AE30-91384D911F3F}">
                <p184:classification xmlns:p184="http://schemas.microsoft.com/office/powerpoint/2018/4/main" val="hdr"/>
              </p:ext>
            </p:extLst>
          </p:nvPr>
        </p:nvSpPr>
        <p:spPr>
          <a:xfrm>
            <a:off x="10682288" y="63500"/>
            <a:ext cx="1477962" cy="182880"/>
          </a:xfrm>
          <a:prstGeom prst="rect">
            <a:avLst/>
          </a:prstGeom>
        </p:spPr>
        <p:txBody>
          <a:bodyPr horzOverflow="overflow" lIns="0" tIns="0" rIns="0" bIns="0">
            <a:spAutoFit/>
          </a:bodyPr>
          <a:lstStyle/>
          <a:p>
            <a:pPr algn="l"/>
            <a:r>
              <a:rPr lang="en-US" sz="1200">
                <a:solidFill>
                  <a:srgbClr val="000000">
                    <a:alpha val="50000"/>
                  </a:srgbClr>
                </a:solidFill>
                <a:latin typeface="Aptos" panose="020B0004020202020204" pitchFamily="34" charset="0"/>
              </a:rPr>
              <a:t>Controlled Disclosure</a:t>
            </a:r>
          </a:p>
        </p:txBody>
      </p:sp>
    </p:spTree>
    <p:extLst>
      <p:ext uri="{BB962C8B-B14F-4D97-AF65-F5344CB8AC3E}">
        <p14:creationId xmlns:p14="http://schemas.microsoft.com/office/powerpoint/2010/main" val="142156269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Lst>
  <p:hf sldNum="0" hdr="0" ftr="0" dt="0"/>
  <p:txStyles>
    <p:titleStyle>
      <a:lvl1pPr algn="l" defTabSz="914400" rtl="0" eaLnBrk="1" latinLnBrk="0" hangingPunct="1">
        <a:lnSpc>
          <a:spcPct val="100000"/>
        </a:lnSpc>
        <a:spcBef>
          <a:spcPct val="0"/>
        </a:spcBef>
        <a:buNone/>
        <a:defRPr sz="2800" b="0"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userDrawn="1">
          <p15:clr>
            <a:srgbClr val="F26B43"/>
          </p15:clr>
        </p15:guide>
        <p15:guide id="28" pos="3840" userDrawn="1">
          <p15:clr>
            <a:srgbClr val="F26B43"/>
          </p15:clr>
        </p15:guide>
        <p15:guide id="29" pos="7296" userDrawn="1">
          <p15:clr>
            <a:srgbClr val="F26B43"/>
          </p15:clr>
        </p15:guide>
        <p15:guide id="30" pos="38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EAA3239-9EA4-4A65-A281-97F994456D9F}" type="slidenum">
              <a:rPr lang="en-US" smtClean="0"/>
              <a:pPr/>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9" name="Rectangle 8" hidden="1">
            <a:extLst>
              <a:ext uri="{FF2B5EF4-FFF2-40B4-BE49-F238E27FC236}">
                <a16:creationId xmlns:a16="http://schemas.microsoft.com/office/drawing/2014/main" id="{D8CA3643-10B8-1C81-180C-59F726B9E78B}"/>
              </a:ext>
            </a:extLst>
          </p:cNvPr>
          <p:cNvSpPr/>
          <p:nvPr userDrawn="1"/>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856570A-F12C-BE83-7133-71A6430757A2}"/>
              </a:ext>
            </a:extLst>
          </p:cNvPr>
          <p:cNvSpPr txBox="1"/>
          <p:nvPr userDrawn="1">
            <p:extLst>
              <p:ext uri="{1162E1C5-73C7-4A58-AE30-91384D911F3F}">
                <p184:classification xmlns:p184="http://schemas.microsoft.com/office/powerpoint/2018/4/main" val="hdr"/>
              </p:ext>
            </p:extLst>
          </p:nvPr>
        </p:nvSpPr>
        <p:spPr>
          <a:xfrm>
            <a:off x="10682288" y="63500"/>
            <a:ext cx="1477962" cy="182880"/>
          </a:xfrm>
          <a:prstGeom prst="rect">
            <a:avLst/>
          </a:prstGeom>
        </p:spPr>
        <p:txBody>
          <a:bodyPr horzOverflow="overflow" lIns="0" tIns="0" rIns="0" bIns="0">
            <a:spAutoFit/>
          </a:bodyPr>
          <a:lstStyle/>
          <a:p>
            <a:pPr algn="l"/>
            <a:r>
              <a:rPr lang="en-US" sz="1200">
                <a:solidFill>
                  <a:srgbClr val="000000">
                    <a:alpha val="50000"/>
                  </a:srgbClr>
                </a:solidFill>
                <a:latin typeface="Aptos" panose="020B0004020202020204" pitchFamily="34" charset="0"/>
              </a:rPr>
              <a:t>Controlled Disclosure</a:t>
            </a:r>
          </a:p>
        </p:txBody>
      </p:sp>
    </p:spTree>
    <p:extLst>
      <p:ext uri="{BB962C8B-B14F-4D97-AF65-F5344CB8AC3E}">
        <p14:creationId xmlns:p14="http://schemas.microsoft.com/office/powerpoint/2010/main" val="954068834"/>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7296">
          <p15:clr>
            <a:srgbClr val="F26B43"/>
          </p15:clr>
        </p15:guide>
        <p15:guide id="4" pos="38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EAA3239-9EA4-4A65-A281-97F994456D9F}" type="slidenum">
              <a:rPr lang="en-US" smtClean="0"/>
              <a:pPr/>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9" name="Rectangle 8" hidden="1">
            <a:extLst>
              <a:ext uri="{FF2B5EF4-FFF2-40B4-BE49-F238E27FC236}">
                <a16:creationId xmlns:a16="http://schemas.microsoft.com/office/drawing/2014/main" id="{247F3478-8E93-4519-F202-0D19957D9803}"/>
              </a:ext>
            </a:extLst>
          </p:cNvPr>
          <p:cNvSpPr/>
          <p:nvPr userDrawn="1"/>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F11FB9E-02D1-0613-737E-2477E74BAA73}"/>
              </a:ext>
            </a:extLst>
          </p:cNvPr>
          <p:cNvSpPr txBox="1"/>
          <p:nvPr userDrawn="1">
            <p:extLst>
              <p:ext uri="{1162E1C5-73C7-4A58-AE30-91384D911F3F}">
                <p184:classification xmlns:p184="http://schemas.microsoft.com/office/powerpoint/2018/4/main" val="hdr"/>
              </p:ext>
            </p:extLst>
          </p:nvPr>
        </p:nvSpPr>
        <p:spPr>
          <a:xfrm>
            <a:off x="10682288" y="63500"/>
            <a:ext cx="1477962" cy="182880"/>
          </a:xfrm>
          <a:prstGeom prst="rect">
            <a:avLst/>
          </a:prstGeom>
        </p:spPr>
        <p:txBody>
          <a:bodyPr horzOverflow="overflow" lIns="0" tIns="0" rIns="0" bIns="0">
            <a:spAutoFit/>
          </a:bodyPr>
          <a:lstStyle/>
          <a:p>
            <a:pPr algn="l"/>
            <a:r>
              <a:rPr lang="en-US" sz="1200">
                <a:solidFill>
                  <a:srgbClr val="000000">
                    <a:alpha val="50000"/>
                  </a:srgbClr>
                </a:solidFill>
                <a:latin typeface="Aptos" panose="020B0004020202020204" pitchFamily="34" charset="0"/>
              </a:rPr>
              <a:t>Controlled Disclosure</a:t>
            </a:r>
          </a:p>
        </p:txBody>
      </p:sp>
    </p:spTree>
    <p:extLst>
      <p:ext uri="{BB962C8B-B14F-4D97-AF65-F5344CB8AC3E}">
        <p14:creationId xmlns:p14="http://schemas.microsoft.com/office/powerpoint/2010/main" val="564073347"/>
      </p:ext>
    </p:extLst>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7296">
          <p15:clr>
            <a:srgbClr val="F26B43"/>
          </p15:clr>
        </p15:guide>
        <p15:guide id="4" pos="3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4.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8.xml"/><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C733D-E72A-438A-AB52-6B43E79C3861}"/>
              </a:ext>
            </a:extLst>
          </p:cNvPr>
          <p:cNvSpPr>
            <a:spLocks noGrp="1"/>
          </p:cNvSpPr>
          <p:nvPr>
            <p:ph type="ctrTitle"/>
          </p:nvPr>
        </p:nvSpPr>
        <p:spPr/>
        <p:txBody>
          <a:bodyPr>
            <a:normAutofit fontScale="90000"/>
          </a:bodyPr>
          <a:lstStyle/>
          <a:p>
            <a:r>
              <a:rPr lang="en-US" dirty="0"/>
              <a:t>Automated Forex Intelligence &amp; Pricing Platform</a:t>
            </a:r>
          </a:p>
        </p:txBody>
      </p:sp>
      <p:sp>
        <p:nvSpPr>
          <p:cNvPr id="3" name="Subtitle 2">
            <a:extLst>
              <a:ext uri="{FF2B5EF4-FFF2-40B4-BE49-F238E27FC236}">
                <a16:creationId xmlns:a16="http://schemas.microsoft.com/office/drawing/2014/main" id="{C4FAC0FE-AC9D-0E73-DB45-6CBEBB1C5675}"/>
              </a:ext>
            </a:extLst>
          </p:cNvPr>
          <p:cNvSpPr>
            <a:spLocks noGrp="1"/>
          </p:cNvSpPr>
          <p:nvPr>
            <p:ph type="subTitle" idx="1"/>
          </p:nvPr>
        </p:nvSpPr>
        <p:spPr>
          <a:xfrm>
            <a:off x="2417780" y="3531204"/>
            <a:ext cx="8637072" cy="1768383"/>
          </a:xfrm>
        </p:spPr>
        <p:txBody>
          <a:bodyPr>
            <a:normAutofit/>
          </a:bodyPr>
          <a:lstStyle/>
          <a:p>
            <a:r>
              <a:rPr lang="en-US" dirty="0"/>
              <a:t>Innovative technology enhancing currency pricing accuracy</a:t>
            </a:r>
          </a:p>
          <a:p>
            <a:endParaRPr lang="en-US" dirty="0"/>
          </a:p>
          <a:p>
            <a:r>
              <a:rPr lang="en-US" dirty="0"/>
              <a:t>Prepared by: Paul Wahome, Maryanne Kinyanjui and Simon </a:t>
            </a:r>
            <a:r>
              <a:rPr lang="en-US" dirty="0" err="1"/>
              <a:t>njoroge</a:t>
            </a:r>
            <a:endParaRPr lang="en-US" dirty="0"/>
          </a:p>
          <a:p>
            <a:endParaRPr lang="en-US" dirty="0"/>
          </a:p>
          <a:p>
            <a:endParaRPr lang="en-US" dirty="0"/>
          </a:p>
        </p:txBody>
      </p:sp>
    </p:spTree>
    <p:extLst>
      <p:ext uri="{BB962C8B-B14F-4D97-AF65-F5344CB8AC3E}">
        <p14:creationId xmlns:p14="http://schemas.microsoft.com/office/powerpoint/2010/main" val="2449864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49849-5A17-8EF2-2D38-424E482BF5DD}"/>
              </a:ext>
            </a:extLst>
          </p:cNvPr>
          <p:cNvSpPr>
            <a:spLocks noGrp="1"/>
          </p:cNvSpPr>
          <p:nvPr>
            <p:ph type="title"/>
          </p:nvPr>
        </p:nvSpPr>
        <p:spPr>
          <a:xfrm>
            <a:off x="698091" y="804519"/>
            <a:ext cx="10356763" cy="1049235"/>
          </a:xfrm>
        </p:spPr>
        <p:txBody>
          <a:bodyPr/>
          <a:lstStyle/>
          <a:p>
            <a:r>
              <a:rPr lang="en-US" b="1"/>
              <a:t>Background / Business Rationale</a:t>
            </a:r>
            <a:endParaRPr lang="en-US" dirty="0"/>
          </a:p>
        </p:txBody>
      </p:sp>
      <p:sp>
        <p:nvSpPr>
          <p:cNvPr id="3" name="Content Placeholder 2">
            <a:extLst>
              <a:ext uri="{FF2B5EF4-FFF2-40B4-BE49-F238E27FC236}">
                <a16:creationId xmlns:a16="http://schemas.microsoft.com/office/drawing/2014/main" id="{6EB83C32-990D-D603-F6F1-EC8228EF61E8}"/>
              </a:ext>
            </a:extLst>
          </p:cNvPr>
          <p:cNvSpPr>
            <a:spLocks noGrp="1"/>
          </p:cNvSpPr>
          <p:nvPr>
            <p:ph idx="1"/>
          </p:nvPr>
        </p:nvSpPr>
        <p:spPr>
          <a:xfrm>
            <a:off x="698091" y="2015732"/>
            <a:ext cx="10356764" cy="3450613"/>
          </a:xfrm>
        </p:spPr>
        <p:txBody>
          <a:bodyPr>
            <a:normAutofit fontScale="62500" lnSpcReduction="20000"/>
          </a:bodyPr>
          <a:lstStyle/>
          <a:p>
            <a:r>
              <a:rPr lang="en-US" dirty="0"/>
              <a:t>The bank currently faces challenges in determining competitive yet profitable foreign exchange (forex) rates for customers due to the manual collection, comparison, and interpretation of market information. Treasury and branch teams require timely visibility of market movements, competitor pricing, and reference rates to make informed pricing decisions.</a:t>
            </a:r>
          </a:p>
          <a:p>
            <a:r>
              <a:rPr lang="en-US" dirty="0"/>
              <a:t>The current process of manually reviewing rates from the Central Bank of Kenya (CBK) and competing banks is time-consuming, prone to human error, and may result in delayed pricing decisions, missed revenue opportunities, or non-competitive customer offers.</a:t>
            </a:r>
          </a:p>
          <a:p>
            <a:r>
              <a:rPr lang="en-US" dirty="0"/>
              <a:t>This project proposes the development of an automated forex intelligence workflow using </a:t>
            </a:r>
            <a:r>
              <a:rPr lang="en-US" b="1" dirty="0"/>
              <a:t>n8n automation</a:t>
            </a:r>
            <a:r>
              <a:rPr lang="en-US" dirty="0"/>
              <a:t>, </a:t>
            </a:r>
            <a:r>
              <a:rPr lang="en-US" b="1" dirty="0"/>
              <a:t>API/HTTP data collection</a:t>
            </a:r>
            <a:r>
              <a:rPr lang="en-US" dirty="0"/>
              <a:t>, </a:t>
            </a:r>
            <a:r>
              <a:rPr lang="en-US" b="1" dirty="0"/>
              <a:t>AI-powered data processing</a:t>
            </a:r>
            <a:r>
              <a:rPr lang="en-US" dirty="0"/>
              <a:t>, and </a:t>
            </a:r>
            <a:r>
              <a:rPr lang="en-US" b="1" dirty="0"/>
              <a:t>dashboard visualization</a:t>
            </a:r>
            <a:r>
              <a:rPr lang="en-US" dirty="0"/>
              <a:t> to provide hourly forex market insights.</a:t>
            </a:r>
          </a:p>
          <a:p>
            <a:r>
              <a:rPr lang="en-US" dirty="0"/>
              <a:t>The solution will automatically collect forex rates from:</a:t>
            </a:r>
          </a:p>
          <a:p>
            <a:r>
              <a:rPr lang="en-US" dirty="0"/>
              <a:t>Central Bank of Kenya reference rates </a:t>
            </a:r>
          </a:p>
          <a:p>
            <a:r>
              <a:rPr lang="en-US" dirty="0"/>
              <a:t>Five selected competitor banks </a:t>
            </a:r>
          </a:p>
          <a:p>
            <a:r>
              <a:rPr lang="en-US" dirty="0"/>
              <a:t>Other approved market data sources where applicable </a:t>
            </a:r>
          </a:p>
          <a:p>
            <a:r>
              <a:rPr lang="en-US" dirty="0"/>
              <a:t>The collected information will be cleaned, validated, analyzed, and presented through dashboards accessible</a:t>
            </a:r>
          </a:p>
          <a:p>
            <a:endParaRPr lang="en-US" dirty="0"/>
          </a:p>
        </p:txBody>
      </p:sp>
    </p:spTree>
    <p:extLst>
      <p:ext uri="{BB962C8B-B14F-4D97-AF65-F5344CB8AC3E}">
        <p14:creationId xmlns:p14="http://schemas.microsoft.com/office/powerpoint/2010/main" val="2785380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92E6-02C4-3D0F-EDB7-B508C675B31B}"/>
              </a:ext>
            </a:extLst>
          </p:cNvPr>
          <p:cNvSpPr>
            <a:spLocks noGrp="1"/>
          </p:cNvSpPr>
          <p:nvPr>
            <p:ph type="title"/>
          </p:nvPr>
        </p:nvSpPr>
        <p:spPr>
          <a:xfrm>
            <a:off x="1451579" y="804519"/>
            <a:ext cx="9603275" cy="660487"/>
          </a:xfrm>
        </p:spPr>
        <p:txBody>
          <a:bodyPr/>
          <a:lstStyle/>
          <a:p>
            <a:r>
              <a:rPr lang="en-US" dirty="0"/>
              <a:t>Project objectives</a:t>
            </a:r>
          </a:p>
        </p:txBody>
      </p:sp>
      <p:sp>
        <p:nvSpPr>
          <p:cNvPr id="3" name="Content Placeholder 2">
            <a:extLst>
              <a:ext uri="{FF2B5EF4-FFF2-40B4-BE49-F238E27FC236}">
                <a16:creationId xmlns:a16="http://schemas.microsoft.com/office/drawing/2014/main" id="{6D0578A9-DD96-6AB8-894E-7A30C877E3D7}"/>
              </a:ext>
            </a:extLst>
          </p:cNvPr>
          <p:cNvSpPr>
            <a:spLocks noGrp="1"/>
          </p:cNvSpPr>
          <p:nvPr>
            <p:ph idx="1"/>
          </p:nvPr>
        </p:nvSpPr>
        <p:spPr/>
        <p:txBody>
          <a:bodyPr>
            <a:normAutofit fontScale="92500" lnSpcReduction="10000"/>
          </a:bodyPr>
          <a:lstStyle/>
          <a:p>
            <a:pPr marL="0" indent="0">
              <a:buNone/>
            </a:pPr>
            <a:r>
              <a:rPr lang="en-US" dirty="0"/>
              <a:t>The objective of this project is to develop an automated forex monitoring and analytics solution that:</a:t>
            </a:r>
          </a:p>
          <a:p>
            <a:r>
              <a:rPr lang="en-US" dirty="0"/>
              <a:t>Provides hourly visibility of market forex rates. </a:t>
            </a:r>
          </a:p>
          <a:p>
            <a:r>
              <a:rPr lang="en-US" dirty="0"/>
              <a:t>Enables Treasury to determine competitive customer rates. </a:t>
            </a:r>
          </a:p>
          <a:p>
            <a:r>
              <a:rPr lang="en-US" dirty="0"/>
              <a:t>Supports profitability decisions through market benchmarking. </a:t>
            </a:r>
          </a:p>
          <a:p>
            <a:r>
              <a:rPr lang="en-US" dirty="0"/>
              <a:t>Reduces manual rate collection activities. </a:t>
            </a:r>
          </a:p>
          <a:p>
            <a:r>
              <a:rPr lang="en-US" dirty="0"/>
              <a:t>Improves accuracy through automated validation and error handling. </a:t>
            </a:r>
          </a:p>
          <a:p>
            <a:r>
              <a:rPr lang="en-US" dirty="0"/>
              <a:t>Creates a reliable audit trail of historical forex movements.</a:t>
            </a:r>
          </a:p>
          <a:p>
            <a:endParaRPr lang="en-US" dirty="0"/>
          </a:p>
        </p:txBody>
      </p:sp>
    </p:spTree>
    <p:extLst>
      <p:ext uri="{BB962C8B-B14F-4D97-AF65-F5344CB8AC3E}">
        <p14:creationId xmlns:p14="http://schemas.microsoft.com/office/powerpoint/2010/main" val="1255456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BD33A-1732-91A5-D073-4AFCF09E1889}"/>
              </a:ext>
            </a:extLst>
          </p:cNvPr>
          <p:cNvSpPr>
            <a:spLocks noGrp="1"/>
          </p:cNvSpPr>
          <p:nvPr>
            <p:ph type="title"/>
          </p:nvPr>
        </p:nvSpPr>
        <p:spPr/>
        <p:txBody>
          <a:bodyPr/>
          <a:lstStyle/>
          <a:p>
            <a:r>
              <a:rPr lang="en-US" dirty="0"/>
              <a:t>Project Value proposition</a:t>
            </a:r>
          </a:p>
        </p:txBody>
      </p:sp>
      <p:sp>
        <p:nvSpPr>
          <p:cNvPr id="3" name="Content Placeholder 2">
            <a:extLst>
              <a:ext uri="{FF2B5EF4-FFF2-40B4-BE49-F238E27FC236}">
                <a16:creationId xmlns:a16="http://schemas.microsoft.com/office/drawing/2014/main" id="{D17E5EAA-249C-0718-844D-1683B06F6BF0}"/>
              </a:ext>
            </a:extLst>
          </p:cNvPr>
          <p:cNvSpPr>
            <a:spLocks noGrp="1"/>
          </p:cNvSpPr>
          <p:nvPr>
            <p:ph idx="1"/>
          </p:nvPr>
        </p:nvSpPr>
        <p:spPr>
          <a:xfrm>
            <a:off x="6272981" y="2015732"/>
            <a:ext cx="4781873" cy="3450613"/>
          </a:xfrm>
        </p:spPr>
        <p:txBody>
          <a:bodyPr>
            <a:normAutofit fontScale="62500" lnSpcReduction="20000"/>
          </a:bodyPr>
          <a:lstStyle/>
          <a:p>
            <a:pPr marL="0" indent="0">
              <a:spcBef>
                <a:spcPts val="2500"/>
              </a:spcBef>
              <a:buNone/>
            </a:pPr>
            <a:r>
              <a:rPr lang="en-US" b="1" dirty="0"/>
              <a:t>Buy–Sell Spread Importance</a:t>
            </a:r>
          </a:p>
          <a:p>
            <a:pPr marL="0" lvl="1" indent="0">
              <a:buNone/>
            </a:pPr>
            <a:r>
              <a:rPr lang="en-US" dirty="0"/>
              <a:t>The buy–sell spread is a crucial metric showing the bank’s margin and competitiveness in forex trading.</a:t>
            </a:r>
          </a:p>
          <a:p>
            <a:pPr marL="0" indent="0">
              <a:spcBef>
                <a:spcPts val="2500"/>
              </a:spcBef>
              <a:buNone/>
            </a:pPr>
            <a:r>
              <a:rPr lang="en-US" b="1" dirty="0"/>
              <a:t>Variability Across Banks</a:t>
            </a:r>
          </a:p>
          <a:p>
            <a:pPr marL="0" lvl="1" indent="0">
              <a:buNone/>
            </a:pPr>
            <a:r>
              <a:rPr lang="en-US" dirty="0"/>
              <a:t>Spreads differ among Kenyan banks due to liquidity, risk appetite, customer segmentation, and market conditions.</a:t>
            </a:r>
          </a:p>
          <a:p>
            <a:pPr marL="0" indent="0">
              <a:spcBef>
                <a:spcPts val="2500"/>
              </a:spcBef>
              <a:buNone/>
            </a:pPr>
            <a:r>
              <a:rPr lang="en-US" b="1" dirty="0"/>
              <a:t>Real-Time Spread Monitoring</a:t>
            </a:r>
          </a:p>
          <a:p>
            <a:pPr marL="0" lvl="1" indent="0">
              <a:buNone/>
            </a:pPr>
            <a:r>
              <a:rPr lang="en-US" dirty="0"/>
              <a:t>Automated near real-time data capture enables treasury teams to quickly detect spread anomalies and market shifts.</a:t>
            </a:r>
          </a:p>
          <a:p>
            <a:pPr marL="0" indent="0">
              <a:spcBef>
                <a:spcPts val="2500"/>
              </a:spcBef>
              <a:buNone/>
            </a:pPr>
            <a:r>
              <a:rPr lang="en-US" b="1" dirty="0"/>
              <a:t>Impact on Revenue and Pricing</a:t>
            </a:r>
          </a:p>
          <a:p>
            <a:pPr marL="0" lvl="1" indent="0">
              <a:buNone/>
            </a:pPr>
            <a:r>
              <a:rPr lang="en-US" dirty="0"/>
              <a:t>Accurate spread benchmarking prevents silent losses and helps optimize pricing for better revenue and market positioning.</a:t>
            </a:r>
          </a:p>
        </p:txBody>
      </p:sp>
      <p:sp>
        <p:nvSpPr>
          <p:cNvPr id="4" name="Content Placeholder 2">
            <a:extLst>
              <a:ext uri="{FF2B5EF4-FFF2-40B4-BE49-F238E27FC236}">
                <a16:creationId xmlns:a16="http://schemas.microsoft.com/office/drawing/2014/main" id="{DA62CC2F-9816-CEF5-B69C-13C8D7901A01}"/>
              </a:ext>
            </a:extLst>
          </p:cNvPr>
          <p:cNvSpPr txBox="1">
            <a:spLocks/>
          </p:cNvSpPr>
          <p:nvPr/>
        </p:nvSpPr>
        <p:spPr>
          <a:xfrm>
            <a:off x="1137146" y="2015732"/>
            <a:ext cx="4781873" cy="3450613"/>
          </a:xfrm>
          <a:prstGeom prst="rect">
            <a:avLst/>
          </a:prstGeom>
        </p:spPr>
        <p:txBody>
          <a:bodyPr vert="horz" lIns="91440" tIns="45720" rIns="91440" bIns="45720" rtlCol="0" anchor="t">
            <a:normAutofit fontScale="625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spcBef>
                <a:spcPts val="2500"/>
              </a:spcBef>
              <a:buFont typeface="Arial" panose="020B0604020202020204" pitchFamily="34" charset="0"/>
              <a:buNone/>
            </a:pPr>
            <a:r>
              <a:rPr lang="en-US" b="1" dirty="0"/>
              <a:t>Volatile FX Market Context</a:t>
            </a:r>
          </a:p>
          <a:p>
            <a:pPr marL="0" lvl="1" indent="0">
              <a:buFont typeface="Arial" panose="020B0604020202020204" pitchFamily="34" charset="0"/>
              <a:buNone/>
            </a:pPr>
            <a:r>
              <a:rPr lang="en-US" dirty="0"/>
              <a:t>Kenyan banks face a volatile forex market influenced by import demand, liquidity constraints, and regulatory interventions.</a:t>
            </a:r>
          </a:p>
          <a:p>
            <a:pPr marL="0" indent="0">
              <a:spcBef>
                <a:spcPts val="2500"/>
              </a:spcBef>
              <a:buFont typeface="Arial" panose="020B0604020202020204" pitchFamily="34" charset="0"/>
              <a:buNone/>
            </a:pPr>
            <a:r>
              <a:rPr lang="en-US" b="1" dirty="0"/>
              <a:t>Current Manual Pricing Challenges</a:t>
            </a:r>
          </a:p>
          <a:p>
            <a:pPr marL="0" lvl="1" indent="0">
              <a:buFont typeface="Arial" panose="020B0604020202020204" pitchFamily="34" charset="0"/>
              <a:buNone/>
            </a:pPr>
            <a:r>
              <a:rPr lang="en-US" dirty="0"/>
              <a:t>Manual forex rate benchmarking causes delays, inconsistencies, and risks of human error in pricing decisions.</a:t>
            </a:r>
          </a:p>
          <a:p>
            <a:pPr marL="0" indent="0">
              <a:spcBef>
                <a:spcPts val="2500"/>
              </a:spcBef>
              <a:buFont typeface="Arial" panose="020B0604020202020204" pitchFamily="34" charset="0"/>
              <a:buNone/>
            </a:pPr>
            <a:r>
              <a:rPr lang="en-US" b="1" dirty="0"/>
              <a:t>Automated Forex Intelligence Platform</a:t>
            </a:r>
          </a:p>
          <a:p>
            <a:pPr marL="0" lvl="1" indent="0">
              <a:buFont typeface="Arial" panose="020B0604020202020204" pitchFamily="34" charset="0"/>
              <a:buNone/>
            </a:pPr>
            <a:r>
              <a:rPr lang="en-US" dirty="0"/>
              <a:t>The platform automates data collection, validation, and analysis integrating CBK and competitor pricing for reliable market insights.</a:t>
            </a:r>
          </a:p>
          <a:p>
            <a:pPr marL="0" indent="0">
              <a:spcBef>
                <a:spcPts val="2500"/>
              </a:spcBef>
              <a:buFont typeface="Arial" panose="020B0604020202020204" pitchFamily="34" charset="0"/>
              <a:buNone/>
            </a:pPr>
            <a:r>
              <a:rPr lang="en-US" b="1" dirty="0"/>
              <a:t>Strategic and Operational Benefits</a:t>
            </a:r>
          </a:p>
          <a:p>
            <a:pPr marL="0" lvl="1" indent="0">
              <a:buFont typeface="Arial" panose="020B0604020202020204" pitchFamily="34" charset="0"/>
              <a:buNone/>
            </a:pPr>
            <a:r>
              <a:rPr lang="en-US" dirty="0"/>
              <a:t>The solution enhances competitiveness, protects margins, reduces manual workload, and ensures consistent pricing governance</a:t>
            </a:r>
          </a:p>
          <a:p>
            <a:pPr marL="0" lvl="1" indent="0">
              <a:buFont typeface="Arial" panose="020B0604020202020204" pitchFamily="34" charset="0"/>
              <a:buNone/>
            </a:pPr>
            <a:endParaRPr lang="en-US" dirty="0"/>
          </a:p>
        </p:txBody>
      </p:sp>
    </p:spTree>
    <p:extLst>
      <p:ext uri="{BB962C8B-B14F-4D97-AF65-F5344CB8AC3E}">
        <p14:creationId xmlns:p14="http://schemas.microsoft.com/office/powerpoint/2010/main" val="2782392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39C2-4BB3-56E6-ED62-A73ADA03E61F}"/>
              </a:ext>
            </a:extLst>
          </p:cNvPr>
          <p:cNvSpPr>
            <a:spLocks noGrp="1"/>
          </p:cNvSpPr>
          <p:nvPr>
            <p:ph type="title"/>
          </p:nvPr>
        </p:nvSpPr>
        <p:spPr/>
        <p:txBody>
          <a:bodyPr/>
          <a:lstStyle/>
          <a:p>
            <a:r>
              <a:rPr lang="en-US" dirty="0"/>
              <a:t>Key features</a:t>
            </a:r>
          </a:p>
        </p:txBody>
      </p:sp>
      <p:sp>
        <p:nvSpPr>
          <p:cNvPr id="3" name="Content Placeholder 2">
            <a:extLst>
              <a:ext uri="{FF2B5EF4-FFF2-40B4-BE49-F238E27FC236}">
                <a16:creationId xmlns:a16="http://schemas.microsoft.com/office/drawing/2014/main" id="{A53D62BB-B9DF-CF0C-0AB1-E1CC2BDF48A4}"/>
              </a:ext>
            </a:extLst>
          </p:cNvPr>
          <p:cNvSpPr>
            <a:spLocks noGrp="1"/>
          </p:cNvSpPr>
          <p:nvPr>
            <p:ph sz="half" idx="1"/>
          </p:nvPr>
        </p:nvSpPr>
        <p:spPr>
          <a:xfrm>
            <a:off x="1447331" y="2010878"/>
            <a:ext cx="4645152" cy="3868812"/>
          </a:xfrm>
        </p:spPr>
        <p:txBody>
          <a:bodyPr>
            <a:noAutofit/>
          </a:bodyPr>
          <a:lstStyle/>
          <a:p>
            <a:r>
              <a:rPr lang="en-US" sz="1200" dirty="0"/>
              <a:t>Significance of CBK Reference Rate</a:t>
            </a:r>
          </a:p>
          <a:p>
            <a:pPr marL="742950" lvl="1" indent="-285750"/>
            <a:r>
              <a:rPr lang="en-US" sz="1200" dirty="0"/>
              <a:t>The CBK reference rate guides pricing and highlights market stress or pricing errors when deviations occur.</a:t>
            </a:r>
          </a:p>
          <a:p>
            <a:r>
              <a:rPr lang="en-US" sz="1200" dirty="0"/>
              <a:t>Real-Time Rate Gap Monitoring</a:t>
            </a:r>
          </a:p>
          <a:p>
            <a:pPr marL="742950" lvl="1" indent="-285750"/>
            <a:r>
              <a:rPr lang="en-US" sz="1200" dirty="0"/>
              <a:t>The platform calculates and visualizes real-time gaps between competitor selling rates and CBK, aiding quick decision-making.</a:t>
            </a:r>
          </a:p>
          <a:p>
            <a:r>
              <a:rPr lang="en-US" sz="1200" dirty="0"/>
              <a:t>Risk and Pricing Implications</a:t>
            </a:r>
          </a:p>
          <a:p>
            <a:pPr marL="742950" lvl="1" indent="-285750"/>
            <a:r>
              <a:rPr lang="en-US" sz="1200" dirty="0"/>
              <a:t>Positive gaps may indicate liquidity scarcity; negative gaps can expose banks to losses from aggressive pricing.</a:t>
            </a:r>
          </a:p>
          <a:p>
            <a:r>
              <a:rPr lang="en-US" sz="1200" dirty="0"/>
              <a:t>Enhanced Governance and Automation</a:t>
            </a:r>
          </a:p>
          <a:p>
            <a:pPr marL="742950" lvl="1" indent="-285750"/>
            <a:r>
              <a:rPr lang="en-US" sz="1200" dirty="0"/>
              <a:t>Automated comparison with alerts improves governance and reduces losses from misaligned pricing decisions.</a:t>
            </a:r>
          </a:p>
        </p:txBody>
      </p:sp>
      <p:sp>
        <p:nvSpPr>
          <p:cNvPr id="4" name="Content Placeholder 3">
            <a:extLst>
              <a:ext uri="{FF2B5EF4-FFF2-40B4-BE49-F238E27FC236}">
                <a16:creationId xmlns:a16="http://schemas.microsoft.com/office/drawing/2014/main" id="{3256F699-B7C3-5DE6-8FD3-C9D423C43060}"/>
              </a:ext>
            </a:extLst>
          </p:cNvPr>
          <p:cNvSpPr>
            <a:spLocks noGrp="1"/>
          </p:cNvSpPr>
          <p:nvPr>
            <p:ph sz="half" idx="2"/>
          </p:nvPr>
        </p:nvSpPr>
        <p:spPr>
          <a:xfrm>
            <a:off x="6413771" y="2017342"/>
            <a:ext cx="4645152" cy="3636205"/>
          </a:xfrm>
        </p:spPr>
        <p:txBody>
          <a:bodyPr>
            <a:normAutofit fontScale="92500" lnSpcReduction="10000"/>
          </a:bodyPr>
          <a:lstStyle/>
          <a:p>
            <a:pPr marL="0" indent="0">
              <a:spcBef>
                <a:spcPts val="2500"/>
              </a:spcBef>
              <a:buNone/>
            </a:pPr>
            <a:r>
              <a:rPr lang="en-US" sz="1200" b="1" dirty="0"/>
              <a:t>Intraday USD/KES Volatility</a:t>
            </a:r>
          </a:p>
          <a:p>
            <a:pPr marL="0" lvl="1" indent="0">
              <a:buNone/>
            </a:pPr>
            <a:r>
              <a:rPr lang="en-US" sz="1200" dirty="0"/>
              <a:t>USD/KES rates fluctuate significantly intraday due to market demand, offshore flows, and central bank activities.</a:t>
            </a:r>
          </a:p>
          <a:p>
            <a:pPr marL="0" indent="0">
              <a:spcBef>
                <a:spcPts val="2500"/>
              </a:spcBef>
              <a:buNone/>
            </a:pPr>
            <a:r>
              <a:rPr lang="en-US" sz="1200" b="1" dirty="0"/>
              <a:t>Importance of Real-Time Trend Monitoring</a:t>
            </a:r>
          </a:p>
          <a:p>
            <a:pPr marL="0" lvl="1" indent="0">
              <a:buNone/>
            </a:pPr>
            <a:r>
              <a:rPr lang="en-US" sz="1200" dirty="0"/>
              <a:t>Real-time trend tracking enables Treasury to manage timing risk and avoid losses from delayed market reactions.</a:t>
            </a:r>
          </a:p>
          <a:p>
            <a:pPr marL="0" indent="0">
              <a:spcBef>
                <a:spcPts val="2500"/>
              </a:spcBef>
              <a:buNone/>
            </a:pPr>
            <a:r>
              <a:rPr lang="en-US" sz="1200" b="1" dirty="0"/>
              <a:t>Informed Decision-Making</a:t>
            </a:r>
          </a:p>
          <a:p>
            <a:pPr marL="0" lvl="1" indent="0">
              <a:buNone/>
            </a:pPr>
            <a:r>
              <a:rPr lang="en-US" sz="1200" dirty="0"/>
              <a:t>Trend visibility helps Treasury adjust rates, widen spreads, and communicate proactively with branches.</a:t>
            </a:r>
          </a:p>
          <a:p>
            <a:pPr marL="0" indent="0">
              <a:spcBef>
                <a:spcPts val="2500"/>
              </a:spcBef>
              <a:buNone/>
            </a:pPr>
            <a:r>
              <a:rPr lang="en-US" sz="1200" b="1" dirty="0"/>
              <a:t>Post-Event Data Analysis</a:t>
            </a:r>
          </a:p>
          <a:p>
            <a:pPr marL="0" lvl="1" indent="0">
              <a:buNone/>
            </a:pPr>
            <a:r>
              <a:rPr lang="en-US" sz="1200" dirty="0"/>
              <a:t>Historical intraday trend data supports review and improvement of pricing strategies after market events</a:t>
            </a:r>
          </a:p>
        </p:txBody>
      </p:sp>
    </p:spTree>
    <p:extLst>
      <p:ext uri="{BB962C8B-B14F-4D97-AF65-F5344CB8AC3E}">
        <p14:creationId xmlns:p14="http://schemas.microsoft.com/office/powerpoint/2010/main" val="2327938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89FA4-0D73-9B72-44EE-025524CB8C44}"/>
              </a:ext>
            </a:extLst>
          </p:cNvPr>
          <p:cNvSpPr>
            <a:spLocks noGrp="1"/>
          </p:cNvSpPr>
          <p:nvPr>
            <p:ph type="title"/>
          </p:nvPr>
        </p:nvSpPr>
        <p:spPr/>
        <p:txBody>
          <a:bodyPr/>
          <a:lstStyle/>
          <a:p>
            <a:r>
              <a:rPr lang="en-US" dirty="0"/>
              <a:t>Benefits to the bank</a:t>
            </a:r>
          </a:p>
        </p:txBody>
      </p:sp>
      <p:sp>
        <p:nvSpPr>
          <p:cNvPr id="3" name="Content Placeholder 2">
            <a:extLst>
              <a:ext uri="{FF2B5EF4-FFF2-40B4-BE49-F238E27FC236}">
                <a16:creationId xmlns:a16="http://schemas.microsoft.com/office/drawing/2014/main" id="{C742A08D-AF1A-785A-F95C-17819589C7BE}"/>
              </a:ext>
            </a:extLst>
          </p:cNvPr>
          <p:cNvSpPr>
            <a:spLocks noGrp="1"/>
          </p:cNvSpPr>
          <p:nvPr>
            <p:ph sz="half" idx="1"/>
          </p:nvPr>
        </p:nvSpPr>
        <p:spPr>
          <a:xfrm>
            <a:off x="560440" y="2010878"/>
            <a:ext cx="11238270" cy="3868812"/>
          </a:xfrm>
        </p:spPr>
        <p:txBody>
          <a:bodyPr numCol="2">
            <a:normAutofit lnSpcReduction="10000"/>
          </a:bodyPr>
          <a:lstStyle/>
          <a:p>
            <a:r>
              <a:rPr lang="en-US" b="1" dirty="0"/>
              <a:t>Revenue Benefits</a:t>
            </a:r>
          </a:p>
          <a:p>
            <a:r>
              <a:rPr lang="en-US" dirty="0"/>
              <a:t>Improved forex pricing competitiveness </a:t>
            </a:r>
          </a:p>
          <a:p>
            <a:r>
              <a:rPr lang="en-US" dirty="0"/>
              <a:t>Better customer retention </a:t>
            </a:r>
          </a:p>
          <a:p>
            <a:r>
              <a:rPr lang="en-US" dirty="0"/>
              <a:t>Improved spread management </a:t>
            </a:r>
          </a:p>
          <a:p>
            <a:r>
              <a:rPr lang="en-US" dirty="0"/>
              <a:t>Reduced pricing leakage </a:t>
            </a:r>
          </a:p>
          <a:p>
            <a:r>
              <a:rPr lang="en-US" b="1" dirty="0"/>
              <a:t>Operational Benefits</a:t>
            </a:r>
          </a:p>
          <a:p>
            <a:r>
              <a:rPr lang="en-US" dirty="0"/>
              <a:t>Elimination of manual rate gathering </a:t>
            </a:r>
          </a:p>
          <a:p>
            <a:r>
              <a:rPr lang="en-US" dirty="0"/>
              <a:t>Faster Treasury decision-making </a:t>
            </a:r>
          </a:p>
          <a:p>
            <a:r>
              <a:rPr lang="en-US" dirty="0"/>
              <a:t>Reduced operational errors </a:t>
            </a:r>
          </a:p>
          <a:p>
            <a:r>
              <a:rPr lang="en-US" dirty="0"/>
              <a:t>Better audit trail </a:t>
            </a:r>
          </a:p>
          <a:p>
            <a:r>
              <a:rPr lang="en-US" b="1" dirty="0"/>
              <a:t>Risk Benefits</a:t>
            </a:r>
          </a:p>
          <a:p>
            <a:r>
              <a:rPr lang="en-US" dirty="0"/>
              <a:t>Improved market awareness </a:t>
            </a:r>
          </a:p>
          <a:p>
            <a:r>
              <a:rPr lang="en-US" dirty="0"/>
              <a:t>Faster response to currency volatility </a:t>
            </a:r>
          </a:p>
          <a:p>
            <a:r>
              <a:rPr lang="en-US" dirty="0"/>
              <a:t>Better governance over customer pricing</a:t>
            </a:r>
          </a:p>
          <a:p>
            <a:endParaRPr lang="en-US" dirty="0"/>
          </a:p>
        </p:txBody>
      </p:sp>
    </p:spTree>
    <p:extLst>
      <p:ext uri="{BB962C8B-B14F-4D97-AF65-F5344CB8AC3E}">
        <p14:creationId xmlns:p14="http://schemas.microsoft.com/office/powerpoint/2010/main" val="3911045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6A2C9-562F-515B-CA6B-BA85FEF16CD4}"/>
              </a:ext>
            </a:extLst>
          </p:cNvPr>
          <p:cNvSpPr>
            <a:spLocks noGrp="1"/>
          </p:cNvSpPr>
          <p:nvPr>
            <p:ph type="ctrTitle"/>
          </p:nvPr>
        </p:nvSpPr>
        <p:spPr/>
        <p:txBody>
          <a:bodyPr>
            <a:normAutofit/>
          </a:bodyPr>
          <a:lstStyle/>
          <a:p>
            <a:r>
              <a:rPr lang="en-US" b="1" dirty="0"/>
              <a:t>Solution Overview</a:t>
            </a:r>
            <a:endParaRPr lang="en-US" dirty="0"/>
          </a:p>
        </p:txBody>
      </p:sp>
      <p:sp>
        <p:nvSpPr>
          <p:cNvPr id="3" name="Subtitle 2">
            <a:extLst>
              <a:ext uri="{FF2B5EF4-FFF2-40B4-BE49-F238E27FC236}">
                <a16:creationId xmlns:a16="http://schemas.microsoft.com/office/drawing/2014/main" id="{0433807F-F9D2-EFF3-DBEC-63F33025938E}"/>
              </a:ext>
            </a:extLst>
          </p:cNvPr>
          <p:cNvSpPr>
            <a:spLocks noGrp="1"/>
          </p:cNvSpPr>
          <p:nvPr>
            <p:ph type="subTitle" idx="1"/>
          </p:nvPr>
        </p:nvSpPr>
        <p:spPr>
          <a:xfrm>
            <a:off x="1288026" y="3924495"/>
            <a:ext cx="10117394" cy="977621"/>
          </a:xfrm>
        </p:spPr>
        <p:txBody>
          <a:bodyPr>
            <a:normAutofit fontScale="70000" lnSpcReduction="20000"/>
          </a:bodyPr>
          <a:lstStyle/>
          <a:p>
            <a:r>
              <a:rPr lang="en-US" dirty="0"/>
              <a:t>The proposed forex intelligence automation platform will transform forex rate management from a manual, reactive process into a data-driven decision-support capability. By combining n8n automation, AI processing, and dashboard analytics, the bank will improve pricing agility, protect margins, and provide customers with competitive forex offerings.</a:t>
            </a:r>
          </a:p>
        </p:txBody>
      </p:sp>
    </p:spTree>
    <p:extLst>
      <p:ext uri="{BB962C8B-B14F-4D97-AF65-F5344CB8AC3E}">
        <p14:creationId xmlns:p14="http://schemas.microsoft.com/office/powerpoint/2010/main" val="383370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FD86C-789A-463F-AF5D-A93DEB411469}"/>
              </a:ext>
            </a:extLst>
          </p:cNvPr>
          <p:cNvSpPr>
            <a:spLocks noGrp="1"/>
          </p:cNvSpPr>
          <p:nvPr>
            <p:ph type="title"/>
          </p:nvPr>
        </p:nvSpPr>
        <p:spPr>
          <a:xfrm>
            <a:off x="766917" y="804519"/>
            <a:ext cx="10287937" cy="1049235"/>
          </a:xfrm>
        </p:spPr>
        <p:txBody>
          <a:bodyPr/>
          <a:lstStyle/>
          <a:p>
            <a:r>
              <a:rPr lang="en-US" b="1" dirty="0"/>
              <a:t>Step 1: Data Collection Layer</a:t>
            </a:r>
            <a:br>
              <a:rPr lang="en-US" b="1" dirty="0"/>
            </a:br>
            <a:endParaRPr lang="en-US" dirty="0"/>
          </a:p>
        </p:txBody>
      </p:sp>
      <p:sp>
        <p:nvSpPr>
          <p:cNvPr id="3" name="Content Placeholder 2">
            <a:extLst>
              <a:ext uri="{FF2B5EF4-FFF2-40B4-BE49-F238E27FC236}">
                <a16:creationId xmlns:a16="http://schemas.microsoft.com/office/drawing/2014/main" id="{7CE7A283-9915-E462-7235-D0286F21F855}"/>
              </a:ext>
            </a:extLst>
          </p:cNvPr>
          <p:cNvSpPr>
            <a:spLocks noGrp="1"/>
          </p:cNvSpPr>
          <p:nvPr>
            <p:ph idx="1"/>
          </p:nvPr>
        </p:nvSpPr>
        <p:spPr>
          <a:xfrm>
            <a:off x="766917" y="2015732"/>
            <a:ext cx="10287938" cy="3450613"/>
          </a:xfrm>
        </p:spPr>
        <p:txBody>
          <a:bodyPr numCol="2">
            <a:normAutofit/>
          </a:bodyPr>
          <a:lstStyle/>
          <a:p>
            <a:pPr marL="0" indent="0">
              <a:buNone/>
            </a:pPr>
            <a:r>
              <a:rPr lang="en-US" dirty="0"/>
              <a:t>Using n8n HTTP nodes:</a:t>
            </a:r>
          </a:p>
          <a:p>
            <a:r>
              <a:rPr lang="en-US" dirty="0"/>
              <a:t>Pull forex rates every hour from: </a:t>
            </a:r>
          </a:p>
          <a:p>
            <a:pPr lvl="1"/>
            <a:r>
              <a:rPr lang="en-US" dirty="0"/>
              <a:t>CBK website/data source </a:t>
            </a:r>
          </a:p>
          <a:p>
            <a:pPr lvl="1"/>
            <a:r>
              <a:rPr lang="en-US" dirty="0"/>
              <a:t>Five competitor banks </a:t>
            </a:r>
          </a:p>
          <a:p>
            <a:r>
              <a:rPr lang="en-US" dirty="0"/>
              <a:t>Capture: </a:t>
            </a:r>
          </a:p>
          <a:p>
            <a:pPr lvl="1"/>
            <a:r>
              <a:rPr lang="en-US" dirty="0"/>
              <a:t>Currency pair </a:t>
            </a:r>
          </a:p>
          <a:p>
            <a:pPr lvl="1"/>
            <a:r>
              <a:rPr lang="en-US" dirty="0"/>
              <a:t>Buying rate </a:t>
            </a:r>
          </a:p>
          <a:p>
            <a:pPr lvl="1"/>
            <a:r>
              <a:rPr lang="en-US" dirty="0"/>
              <a:t>Selling rate </a:t>
            </a:r>
          </a:p>
          <a:p>
            <a:pPr lvl="1"/>
            <a:r>
              <a:rPr lang="en-US" dirty="0"/>
              <a:t>Date/time collected </a:t>
            </a:r>
          </a:p>
          <a:p>
            <a:pPr lvl="1"/>
            <a:r>
              <a:rPr lang="en-US" dirty="0"/>
              <a:t>Source institution</a:t>
            </a:r>
          </a:p>
        </p:txBody>
      </p:sp>
    </p:spTree>
    <p:extLst>
      <p:ext uri="{BB962C8B-B14F-4D97-AF65-F5344CB8AC3E}">
        <p14:creationId xmlns:p14="http://schemas.microsoft.com/office/powerpoint/2010/main" val="821088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4264C-345F-F04A-C5F6-62B5124753EA}"/>
              </a:ext>
            </a:extLst>
          </p:cNvPr>
          <p:cNvSpPr>
            <a:spLocks noGrp="1"/>
          </p:cNvSpPr>
          <p:nvPr>
            <p:ph type="title"/>
          </p:nvPr>
        </p:nvSpPr>
        <p:spPr/>
        <p:txBody>
          <a:bodyPr/>
          <a:lstStyle/>
          <a:p>
            <a:r>
              <a:rPr lang="en-US" b="1" dirty="0"/>
              <a:t>Step 2: Data Quality &amp; Validation Layer</a:t>
            </a:r>
            <a:br>
              <a:rPr lang="en-US" b="1" dirty="0"/>
            </a:br>
            <a:endParaRPr lang="en-US" dirty="0"/>
          </a:p>
        </p:txBody>
      </p:sp>
      <p:sp>
        <p:nvSpPr>
          <p:cNvPr id="3" name="Content Placeholder 2">
            <a:extLst>
              <a:ext uri="{FF2B5EF4-FFF2-40B4-BE49-F238E27FC236}">
                <a16:creationId xmlns:a16="http://schemas.microsoft.com/office/drawing/2014/main" id="{C2D3E942-49AB-C3EF-5F38-E37A56F6F1F3}"/>
              </a:ext>
            </a:extLst>
          </p:cNvPr>
          <p:cNvSpPr>
            <a:spLocks noGrp="1"/>
          </p:cNvSpPr>
          <p:nvPr>
            <p:ph idx="1"/>
          </p:nvPr>
        </p:nvSpPr>
        <p:spPr>
          <a:xfrm>
            <a:off x="1130711" y="2015732"/>
            <a:ext cx="9924144" cy="3450613"/>
          </a:xfrm>
        </p:spPr>
        <p:txBody>
          <a:bodyPr>
            <a:normAutofit fontScale="85000" lnSpcReduction="10000"/>
          </a:bodyPr>
          <a:lstStyle/>
          <a:p>
            <a:pPr marL="0" indent="0">
              <a:buNone/>
            </a:pPr>
            <a:r>
              <a:rPr lang="en-US" dirty="0"/>
              <a:t>Automation controls will be implemented to prevent inaccurate data from reaching users. Controls include:</a:t>
            </a:r>
          </a:p>
          <a:p>
            <a:pPr lvl="1"/>
            <a:r>
              <a:rPr lang="en-US" dirty="0"/>
              <a:t>Duplicate detection </a:t>
            </a:r>
          </a:p>
          <a:p>
            <a:pPr lvl="1"/>
            <a:r>
              <a:rPr lang="en-US" dirty="0"/>
              <a:t>Missing value checks </a:t>
            </a:r>
          </a:p>
          <a:p>
            <a:pPr lvl="1"/>
            <a:r>
              <a:rPr lang="en-US" dirty="0"/>
              <a:t>Currency format validation </a:t>
            </a:r>
          </a:p>
          <a:p>
            <a:pPr lvl="1"/>
            <a:r>
              <a:rPr lang="en-US" dirty="0"/>
              <a:t>Outlier detection </a:t>
            </a:r>
          </a:p>
          <a:p>
            <a:pPr lvl="1"/>
            <a:r>
              <a:rPr lang="en-US" dirty="0"/>
              <a:t>Source availability monitoring </a:t>
            </a:r>
          </a:p>
          <a:p>
            <a:pPr lvl="1"/>
            <a:r>
              <a:rPr lang="en-US" dirty="0"/>
              <a:t>Timestamp validation </a:t>
            </a:r>
          </a:p>
          <a:p>
            <a:pPr lvl="1"/>
            <a:r>
              <a:rPr lang="en-US" dirty="0"/>
              <a:t>Rate movement threshold alerts </a:t>
            </a:r>
          </a:p>
          <a:p>
            <a:pPr marL="0" indent="0">
              <a:buNone/>
            </a:pPr>
            <a:r>
              <a:rPr lang="en-US" dirty="0"/>
              <a:t>Example rule:</a:t>
            </a:r>
          </a:p>
          <a:p>
            <a:r>
              <a:rPr lang="en-US" dirty="0"/>
              <a:t>If USD rate changes by more than 5% within one hour, flag for Treasury review</a:t>
            </a:r>
          </a:p>
          <a:p>
            <a:endParaRPr lang="en-US" dirty="0"/>
          </a:p>
        </p:txBody>
      </p:sp>
    </p:spTree>
    <p:extLst>
      <p:ext uri="{BB962C8B-B14F-4D97-AF65-F5344CB8AC3E}">
        <p14:creationId xmlns:p14="http://schemas.microsoft.com/office/powerpoint/2010/main" val="236791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C88E0-0E2F-7290-1EE3-0136A27FC7AC}"/>
              </a:ext>
            </a:extLst>
          </p:cNvPr>
          <p:cNvSpPr>
            <a:spLocks noGrp="1"/>
          </p:cNvSpPr>
          <p:nvPr>
            <p:ph type="title"/>
          </p:nvPr>
        </p:nvSpPr>
        <p:spPr/>
        <p:txBody>
          <a:bodyPr/>
          <a:lstStyle/>
          <a:p>
            <a:r>
              <a:rPr lang="en-US" b="1" dirty="0"/>
              <a:t>Step 3: AI Processing Layer</a:t>
            </a:r>
            <a:endParaRPr lang="en-US" dirty="0"/>
          </a:p>
        </p:txBody>
      </p:sp>
      <p:sp>
        <p:nvSpPr>
          <p:cNvPr id="3" name="Content Placeholder 2">
            <a:extLst>
              <a:ext uri="{FF2B5EF4-FFF2-40B4-BE49-F238E27FC236}">
                <a16:creationId xmlns:a16="http://schemas.microsoft.com/office/drawing/2014/main" id="{FAECE974-9A5A-539D-8A99-2C9B788792D2}"/>
              </a:ext>
            </a:extLst>
          </p:cNvPr>
          <p:cNvSpPr>
            <a:spLocks noGrp="1"/>
          </p:cNvSpPr>
          <p:nvPr>
            <p:ph idx="1"/>
          </p:nvPr>
        </p:nvSpPr>
        <p:spPr/>
        <p:txBody>
          <a:bodyPr>
            <a:normAutofit/>
          </a:bodyPr>
          <a:lstStyle/>
          <a:p>
            <a:pPr marL="0" indent="0">
              <a:buNone/>
            </a:pPr>
            <a:r>
              <a:rPr lang="en-US" dirty="0"/>
              <a:t>AI nodes will:</a:t>
            </a:r>
          </a:p>
          <a:p>
            <a:pPr lvl="1"/>
            <a:r>
              <a:rPr lang="en-US" dirty="0"/>
              <a:t>Clean inconsistent formats </a:t>
            </a:r>
          </a:p>
          <a:p>
            <a:pPr lvl="1"/>
            <a:r>
              <a:rPr lang="en-US" dirty="0"/>
              <a:t>Standardize currency names </a:t>
            </a:r>
          </a:p>
          <a:p>
            <a:pPr lvl="1"/>
            <a:r>
              <a:rPr lang="en-US" dirty="0"/>
              <a:t>Identify market trends </a:t>
            </a:r>
          </a:p>
          <a:p>
            <a:pPr lvl="1"/>
            <a:r>
              <a:rPr lang="en-US" dirty="0"/>
              <a:t>Summarize movements </a:t>
            </a:r>
          </a:p>
          <a:p>
            <a:pPr lvl="1"/>
            <a:r>
              <a:rPr lang="en-US" dirty="0"/>
              <a:t>Example AI output:</a:t>
            </a:r>
          </a:p>
          <a:p>
            <a:r>
              <a:rPr lang="en-US" dirty="0"/>
              <a:t>"USD/KES market rates increased by 0.8% compared to previous hour. Competitor average selling rate is 129.65. Recommended customer selling rate: 129.55."</a:t>
            </a:r>
          </a:p>
          <a:p>
            <a:endParaRPr lang="en-US" dirty="0"/>
          </a:p>
        </p:txBody>
      </p:sp>
    </p:spTree>
    <p:extLst>
      <p:ext uri="{BB962C8B-B14F-4D97-AF65-F5344CB8AC3E}">
        <p14:creationId xmlns:p14="http://schemas.microsoft.com/office/powerpoint/2010/main" val="3920736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EC39-27C8-F261-846D-EC815D4438CD}"/>
              </a:ext>
            </a:extLst>
          </p:cNvPr>
          <p:cNvSpPr>
            <a:spLocks noGrp="1"/>
          </p:cNvSpPr>
          <p:nvPr>
            <p:ph type="title"/>
          </p:nvPr>
        </p:nvSpPr>
        <p:spPr/>
        <p:txBody>
          <a:bodyPr/>
          <a:lstStyle/>
          <a:p>
            <a:r>
              <a:rPr lang="en-US" b="1" dirty="0"/>
              <a:t>Step 4: Dashboard Layer</a:t>
            </a:r>
            <a:br>
              <a:rPr lang="en-US" b="1" dirty="0"/>
            </a:br>
            <a:endParaRPr lang="en-US" dirty="0"/>
          </a:p>
        </p:txBody>
      </p:sp>
      <p:sp>
        <p:nvSpPr>
          <p:cNvPr id="3" name="Content Placeholder 2">
            <a:extLst>
              <a:ext uri="{FF2B5EF4-FFF2-40B4-BE49-F238E27FC236}">
                <a16:creationId xmlns:a16="http://schemas.microsoft.com/office/drawing/2014/main" id="{B40F6030-3673-833B-DBEA-8AC32FC05F19}"/>
              </a:ext>
            </a:extLst>
          </p:cNvPr>
          <p:cNvSpPr>
            <a:spLocks noGrp="1"/>
          </p:cNvSpPr>
          <p:nvPr>
            <p:ph sz="half" idx="1"/>
          </p:nvPr>
        </p:nvSpPr>
        <p:spPr/>
        <p:txBody>
          <a:bodyPr>
            <a:normAutofit fontScale="85000" lnSpcReduction="20000"/>
          </a:bodyPr>
          <a:lstStyle/>
          <a:p>
            <a:r>
              <a:rPr lang="en-US" dirty="0"/>
              <a:t>Dashboard views will provide:</a:t>
            </a:r>
          </a:p>
          <a:p>
            <a:r>
              <a:rPr lang="en-US" b="1" dirty="0"/>
              <a:t>Treasury Dashboard</a:t>
            </a:r>
          </a:p>
          <a:p>
            <a:pPr marL="0" indent="0">
              <a:buNone/>
            </a:pPr>
            <a:r>
              <a:rPr lang="en-US" dirty="0"/>
              <a:t>Metrics:</a:t>
            </a:r>
          </a:p>
          <a:p>
            <a:r>
              <a:rPr lang="en-US" dirty="0"/>
              <a:t>Current market average </a:t>
            </a:r>
          </a:p>
          <a:p>
            <a:r>
              <a:rPr lang="en-US" dirty="0"/>
              <a:t>Competitor rates </a:t>
            </a:r>
          </a:p>
          <a:p>
            <a:r>
              <a:rPr lang="en-US" dirty="0"/>
              <a:t>Bank position </a:t>
            </a:r>
          </a:p>
          <a:p>
            <a:r>
              <a:rPr lang="en-US" dirty="0"/>
              <a:t>Suggested pricing range </a:t>
            </a:r>
          </a:p>
          <a:p>
            <a:r>
              <a:rPr lang="en-US" dirty="0"/>
              <a:t>Rate movements </a:t>
            </a:r>
          </a:p>
          <a:p>
            <a:r>
              <a:rPr lang="en-US" dirty="0"/>
              <a:t>Historical trends </a:t>
            </a:r>
          </a:p>
          <a:p>
            <a:endParaRPr lang="en-US" dirty="0"/>
          </a:p>
          <a:p>
            <a:endParaRPr lang="en-US" dirty="0"/>
          </a:p>
        </p:txBody>
      </p:sp>
      <p:sp>
        <p:nvSpPr>
          <p:cNvPr id="4" name="Content Placeholder 3">
            <a:extLst>
              <a:ext uri="{FF2B5EF4-FFF2-40B4-BE49-F238E27FC236}">
                <a16:creationId xmlns:a16="http://schemas.microsoft.com/office/drawing/2014/main" id="{9BB08CC3-BEA7-91B7-687C-550A9D3EAF3C}"/>
              </a:ext>
            </a:extLst>
          </p:cNvPr>
          <p:cNvSpPr>
            <a:spLocks noGrp="1"/>
          </p:cNvSpPr>
          <p:nvPr>
            <p:ph sz="half" idx="2"/>
          </p:nvPr>
        </p:nvSpPr>
        <p:spPr/>
        <p:txBody>
          <a:bodyPr>
            <a:normAutofit fontScale="85000" lnSpcReduction="20000"/>
          </a:bodyPr>
          <a:lstStyle/>
          <a:p>
            <a:r>
              <a:rPr lang="en-US" b="1" dirty="0"/>
              <a:t>Branch Dashboard</a:t>
            </a:r>
          </a:p>
          <a:p>
            <a:r>
              <a:rPr lang="en-US" dirty="0"/>
              <a:t>Metrics:</a:t>
            </a:r>
          </a:p>
          <a:p>
            <a:r>
              <a:rPr lang="en-US" dirty="0"/>
              <a:t>Approved customer rates </a:t>
            </a:r>
          </a:p>
          <a:p>
            <a:r>
              <a:rPr lang="en-US" dirty="0"/>
              <a:t>Currency availability </a:t>
            </a:r>
          </a:p>
          <a:p>
            <a:r>
              <a:rPr lang="en-US" dirty="0"/>
              <a:t>Competitor comparison </a:t>
            </a:r>
          </a:p>
          <a:p>
            <a:r>
              <a:rPr lang="en-US" dirty="0"/>
              <a:t>Rate alerts</a:t>
            </a:r>
          </a:p>
          <a:p>
            <a:endParaRPr lang="en-US" dirty="0"/>
          </a:p>
        </p:txBody>
      </p:sp>
    </p:spTree>
    <p:extLst>
      <p:ext uri="{BB962C8B-B14F-4D97-AF65-F5344CB8AC3E}">
        <p14:creationId xmlns:p14="http://schemas.microsoft.com/office/powerpoint/2010/main" val="2011241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C162C-43D4-7FB5-2F6D-2DB48D379B98}"/>
              </a:ext>
            </a:extLst>
          </p:cNvPr>
          <p:cNvSpPr>
            <a:spLocks noGrp="1"/>
          </p:cNvSpPr>
          <p:nvPr>
            <p:ph type="title"/>
          </p:nvPr>
        </p:nvSpPr>
        <p:spPr>
          <a:xfrm>
            <a:off x="1451579" y="804519"/>
            <a:ext cx="9603275" cy="660487"/>
          </a:xfrm>
        </p:spPr>
        <p:txBody>
          <a:bodyPr/>
          <a:lstStyle/>
          <a:p>
            <a:r>
              <a:rPr lang="en-US" dirty="0"/>
              <a:t>Workflow</a:t>
            </a:r>
          </a:p>
        </p:txBody>
      </p:sp>
      <p:sp>
        <p:nvSpPr>
          <p:cNvPr id="3" name="Content Placeholder 2">
            <a:extLst>
              <a:ext uri="{FF2B5EF4-FFF2-40B4-BE49-F238E27FC236}">
                <a16:creationId xmlns:a16="http://schemas.microsoft.com/office/drawing/2014/main" id="{8E3FA511-6A76-5E2E-4EDB-45ACE5E8C401}"/>
              </a:ext>
            </a:extLst>
          </p:cNvPr>
          <p:cNvSpPr>
            <a:spLocks noGrp="1"/>
          </p:cNvSpPr>
          <p:nvPr>
            <p:ph idx="1"/>
          </p:nvPr>
        </p:nvSpPr>
        <p:spPr>
          <a:xfrm>
            <a:off x="481781" y="2015732"/>
            <a:ext cx="10573073" cy="3854126"/>
          </a:xfrm>
        </p:spPr>
        <p:txBody>
          <a:bodyPr numCol="2">
            <a:normAutofit fontScale="70000" lnSpcReduction="20000"/>
          </a:bodyPr>
          <a:lstStyle/>
          <a:p>
            <a:r>
              <a:rPr lang="en-US" sz="2800" dirty="0"/>
              <a:t>Schedule Trigger (Hourly)</a:t>
            </a:r>
          </a:p>
          <a:p>
            <a:r>
              <a:rPr lang="en-US" sz="2800" dirty="0"/>
              <a:t>          ↓</a:t>
            </a:r>
          </a:p>
          <a:p>
            <a:r>
              <a:rPr lang="en-US" sz="2800" dirty="0"/>
              <a:t>HTTP Nodes (CBK + 5 Banks)</a:t>
            </a:r>
          </a:p>
          <a:p>
            <a:r>
              <a:rPr lang="en-US" sz="2800" dirty="0"/>
              <a:t>          ↓</a:t>
            </a:r>
          </a:p>
          <a:p>
            <a:r>
              <a:rPr lang="en-US" sz="2800" dirty="0"/>
              <a:t>Merge Data Node</a:t>
            </a:r>
          </a:p>
          <a:p>
            <a:r>
              <a:rPr lang="en-US" sz="2800" dirty="0"/>
              <a:t>          ↓</a:t>
            </a:r>
          </a:p>
          <a:p>
            <a:r>
              <a:rPr lang="en-US" sz="2800" dirty="0"/>
              <a:t>AI Data Cleaning Node</a:t>
            </a:r>
          </a:p>
          <a:p>
            <a:r>
              <a:rPr lang="en-US" sz="2800" dirty="0"/>
              <a:t>          ↓</a:t>
            </a:r>
          </a:p>
          <a:p>
            <a:r>
              <a:rPr lang="en-US" sz="2800" dirty="0"/>
              <a:t>Validation Rules</a:t>
            </a:r>
          </a:p>
          <a:p>
            <a:r>
              <a:rPr lang="en-US" sz="2800" dirty="0"/>
              <a:t>          ↓</a:t>
            </a:r>
          </a:p>
          <a:p>
            <a:r>
              <a:rPr lang="en-US" sz="2800" dirty="0"/>
              <a:t>Error Handling Workflow</a:t>
            </a:r>
          </a:p>
          <a:p>
            <a:r>
              <a:rPr lang="en-US" sz="2800" dirty="0"/>
              <a:t>          ↓</a:t>
            </a:r>
          </a:p>
          <a:p>
            <a:r>
              <a:rPr lang="en-US" sz="2800" dirty="0"/>
              <a:t>Database / Google Sheet Storage</a:t>
            </a:r>
          </a:p>
          <a:p>
            <a:r>
              <a:rPr lang="en-US" sz="2800" dirty="0"/>
              <a:t>          ↓</a:t>
            </a:r>
          </a:p>
          <a:p>
            <a:r>
              <a:rPr lang="en-US" sz="2800" dirty="0"/>
              <a:t>Dashboard Update</a:t>
            </a:r>
          </a:p>
          <a:p>
            <a:r>
              <a:rPr lang="en-US" sz="2800" dirty="0"/>
              <a:t>          ↓</a:t>
            </a:r>
          </a:p>
          <a:p>
            <a:r>
              <a:rPr lang="en-US" sz="2800" dirty="0"/>
              <a:t>Alerts (Email/Teams</a:t>
            </a:r>
            <a:r>
              <a:rPr lang="en-US" dirty="0"/>
              <a:t>)</a:t>
            </a:r>
          </a:p>
        </p:txBody>
      </p:sp>
    </p:spTree>
    <p:extLst>
      <p:ext uri="{BB962C8B-B14F-4D97-AF65-F5344CB8AC3E}">
        <p14:creationId xmlns:p14="http://schemas.microsoft.com/office/powerpoint/2010/main" val="3369137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73A262-A9D4-34B8-971A-99D1FD7FD76E}"/>
              </a:ext>
            </a:extLst>
          </p:cNvPr>
          <p:cNvSpPr>
            <a:spLocks noGrp="1"/>
          </p:cNvSpPr>
          <p:nvPr>
            <p:ph type="title"/>
          </p:nvPr>
        </p:nvSpPr>
        <p:spPr>
          <a:xfrm>
            <a:off x="844476" y="1600199"/>
            <a:ext cx="3539266" cy="4297680"/>
          </a:xfrm>
        </p:spPr>
        <p:txBody>
          <a:bodyPr anchor="ctr">
            <a:normAutofit/>
          </a:bodyPr>
          <a:lstStyle/>
          <a:p>
            <a:r>
              <a:rPr lang="en-US" b="1"/>
              <a:t>Resilience and Error Management Framework</a:t>
            </a:r>
            <a:br>
              <a:rPr lang="en-US" b="1"/>
            </a:br>
            <a:endParaRPr lang="en-US"/>
          </a:p>
        </p:txBody>
      </p:sp>
      <p:cxnSp>
        <p:nvCxnSpPr>
          <p:cNvPr id="29" name="Straight Connector 28">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1DAE260-40C2-2943-0060-872A113BEC16}"/>
              </a:ext>
            </a:extLst>
          </p:cNvPr>
          <p:cNvSpPr>
            <a:spLocks noGrp="1"/>
          </p:cNvSpPr>
          <p:nvPr>
            <p:ph idx="1"/>
          </p:nvPr>
        </p:nvSpPr>
        <p:spPr>
          <a:xfrm>
            <a:off x="4924851" y="0"/>
            <a:ext cx="6608387" cy="6735097"/>
          </a:xfrm>
        </p:spPr>
        <p:txBody>
          <a:bodyPr numCol="1" anchor="ctr">
            <a:normAutofit/>
          </a:bodyPr>
          <a:lstStyle/>
          <a:p>
            <a:pPr marL="0" indent="0">
              <a:lnSpc>
                <a:spcPct val="110000"/>
              </a:lnSpc>
              <a:buNone/>
            </a:pPr>
            <a:r>
              <a:rPr lang="en-US" sz="1500" b="1" dirty="0"/>
              <a:t>To ensure reliability, Data Failure Controls will include</a:t>
            </a:r>
          </a:p>
          <a:p>
            <a:pPr lvl="1">
              <a:lnSpc>
                <a:spcPct val="110000"/>
              </a:lnSpc>
            </a:pPr>
            <a:r>
              <a:rPr lang="en-US" sz="1500" dirty="0"/>
              <a:t>Automatic retry if website unavailable </a:t>
            </a:r>
          </a:p>
          <a:p>
            <a:pPr lvl="1">
              <a:lnSpc>
                <a:spcPct val="110000"/>
              </a:lnSpc>
            </a:pPr>
            <a:r>
              <a:rPr lang="en-US" sz="1500" dirty="0"/>
              <a:t>Backup data source </a:t>
            </a:r>
          </a:p>
          <a:p>
            <a:pPr lvl="1">
              <a:lnSpc>
                <a:spcPct val="110000"/>
              </a:lnSpc>
            </a:pPr>
            <a:r>
              <a:rPr lang="en-US" sz="1500" dirty="0"/>
              <a:t>Timeout controls </a:t>
            </a:r>
          </a:p>
          <a:p>
            <a:pPr lvl="1">
              <a:lnSpc>
                <a:spcPct val="110000"/>
              </a:lnSpc>
            </a:pPr>
            <a:r>
              <a:rPr lang="en-US" sz="1500" dirty="0"/>
              <a:t>Failed workflow notifications</a:t>
            </a:r>
          </a:p>
          <a:p>
            <a:pPr marL="0" indent="0">
              <a:lnSpc>
                <a:spcPct val="110000"/>
              </a:lnSpc>
              <a:buNone/>
            </a:pPr>
            <a:r>
              <a:rPr lang="en-US" sz="1500" b="1" dirty="0"/>
              <a:t>Data Accuracy Controls</a:t>
            </a:r>
          </a:p>
          <a:p>
            <a:pPr lvl="1">
              <a:lnSpc>
                <a:spcPct val="110000"/>
              </a:lnSpc>
            </a:pPr>
            <a:r>
              <a:rPr lang="en-US" sz="1500" dirty="0"/>
              <a:t>Rate reasonability checks </a:t>
            </a:r>
          </a:p>
          <a:p>
            <a:pPr lvl="1">
              <a:lnSpc>
                <a:spcPct val="110000"/>
              </a:lnSpc>
            </a:pPr>
            <a:r>
              <a:rPr lang="en-US" sz="1500" dirty="0"/>
              <a:t>Previous-hour comparison </a:t>
            </a:r>
          </a:p>
          <a:p>
            <a:pPr lvl="1">
              <a:lnSpc>
                <a:spcPct val="110000"/>
              </a:lnSpc>
            </a:pPr>
            <a:r>
              <a:rPr lang="en-US" sz="1500" dirty="0"/>
              <a:t>Competitor comparison validation </a:t>
            </a:r>
          </a:p>
          <a:p>
            <a:pPr lvl="1">
              <a:lnSpc>
                <a:spcPct val="110000"/>
              </a:lnSpc>
            </a:pPr>
            <a:r>
              <a:rPr lang="en-US" sz="1500" dirty="0"/>
              <a:t>Manual approval override</a:t>
            </a:r>
          </a:p>
          <a:p>
            <a:pPr marL="0" indent="0">
              <a:lnSpc>
                <a:spcPct val="110000"/>
              </a:lnSpc>
              <a:buNone/>
            </a:pPr>
            <a:r>
              <a:rPr lang="en-US" sz="1500" b="1" dirty="0"/>
              <a:t>Operational Controls will include</a:t>
            </a:r>
          </a:p>
          <a:p>
            <a:pPr lvl="1">
              <a:lnSpc>
                <a:spcPct val="110000"/>
              </a:lnSpc>
            </a:pPr>
            <a:r>
              <a:rPr lang="en-US" sz="1300" dirty="0"/>
              <a:t>Workflow monitoring dashboard </a:t>
            </a:r>
          </a:p>
          <a:p>
            <a:pPr lvl="1">
              <a:lnSpc>
                <a:spcPct val="110000"/>
              </a:lnSpc>
            </a:pPr>
            <a:r>
              <a:rPr lang="en-US" sz="1300" dirty="0"/>
              <a:t>Execution logs </a:t>
            </a:r>
          </a:p>
          <a:p>
            <a:pPr lvl="1">
              <a:lnSpc>
                <a:spcPct val="110000"/>
              </a:lnSpc>
            </a:pPr>
            <a:r>
              <a:rPr lang="en-US" sz="1300" dirty="0"/>
              <a:t>Error queue </a:t>
            </a:r>
          </a:p>
          <a:p>
            <a:pPr lvl="1">
              <a:lnSpc>
                <a:spcPct val="110000"/>
              </a:lnSpc>
            </a:pPr>
            <a:r>
              <a:rPr lang="en-US" sz="1300" dirty="0"/>
              <a:t>Daily system health report</a:t>
            </a:r>
            <a:endParaRPr lang="en-US" sz="1500" dirty="0"/>
          </a:p>
        </p:txBody>
      </p:sp>
    </p:spTree>
    <p:extLst>
      <p:ext uri="{BB962C8B-B14F-4D97-AF65-F5344CB8AC3E}">
        <p14:creationId xmlns:p14="http://schemas.microsoft.com/office/powerpoint/2010/main" val="1165048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CABD-9C08-1E96-0A8A-C0988DB01C50}"/>
              </a:ext>
            </a:extLst>
          </p:cNvPr>
          <p:cNvSpPr>
            <a:spLocks noGrp="1"/>
          </p:cNvSpPr>
          <p:nvPr>
            <p:ph type="title"/>
          </p:nvPr>
        </p:nvSpPr>
        <p:spPr>
          <a:xfrm>
            <a:off x="1451579" y="804519"/>
            <a:ext cx="9603275" cy="1049235"/>
          </a:xfrm>
        </p:spPr>
        <p:txBody>
          <a:bodyPr>
            <a:normAutofit/>
          </a:bodyPr>
          <a:lstStyle/>
          <a:p>
            <a:r>
              <a:rPr lang="en-US" b="1" dirty="0"/>
              <a:t>Technology Components</a:t>
            </a:r>
            <a:br>
              <a:rPr lang="en-US" b="1" dirty="0"/>
            </a:br>
            <a:endParaRPr lang="en-US" dirty="0"/>
          </a:p>
        </p:txBody>
      </p:sp>
      <p:graphicFrame>
        <p:nvGraphicFramePr>
          <p:cNvPr id="4" name="Content Placeholder 3">
            <a:extLst>
              <a:ext uri="{FF2B5EF4-FFF2-40B4-BE49-F238E27FC236}">
                <a16:creationId xmlns:a16="http://schemas.microsoft.com/office/drawing/2014/main" id="{2E3F038F-BAC9-4EB9-D294-E82C8232F471}"/>
              </a:ext>
            </a:extLst>
          </p:cNvPr>
          <p:cNvGraphicFramePr>
            <a:graphicFrameLocks noGrp="1"/>
          </p:cNvGraphicFramePr>
          <p:nvPr>
            <p:ph idx="1"/>
            <p:extLst>
              <p:ext uri="{D42A27DB-BD31-4B8C-83A1-F6EECF244321}">
                <p14:modId xmlns:p14="http://schemas.microsoft.com/office/powerpoint/2010/main" val="2431287783"/>
              </p:ext>
            </p:extLst>
          </p:nvPr>
        </p:nvGraphicFramePr>
        <p:xfrm>
          <a:off x="1682649" y="2005781"/>
          <a:ext cx="9141028" cy="3659151"/>
        </p:xfrm>
        <a:graphic>
          <a:graphicData uri="http://schemas.openxmlformats.org/drawingml/2006/table">
            <a:tbl>
              <a:tblPr/>
              <a:tblGrid>
                <a:gridCol w="4570514">
                  <a:extLst>
                    <a:ext uri="{9D8B030D-6E8A-4147-A177-3AD203B41FA5}">
                      <a16:colId xmlns:a16="http://schemas.microsoft.com/office/drawing/2014/main" val="2156598982"/>
                    </a:ext>
                  </a:extLst>
                </a:gridCol>
                <a:gridCol w="4570514">
                  <a:extLst>
                    <a:ext uri="{9D8B030D-6E8A-4147-A177-3AD203B41FA5}">
                      <a16:colId xmlns:a16="http://schemas.microsoft.com/office/drawing/2014/main" val="3793394915"/>
                    </a:ext>
                  </a:extLst>
                </a:gridCol>
              </a:tblGrid>
              <a:tr h="421473">
                <a:tc>
                  <a:txBody>
                    <a:bodyPr/>
                    <a:lstStyle/>
                    <a:p>
                      <a:pPr>
                        <a:buNone/>
                      </a:pPr>
                      <a:r>
                        <a:rPr lang="en-US" sz="1700" dirty="0"/>
                        <a:t>Component</a:t>
                      </a:r>
                    </a:p>
                  </a:txBody>
                  <a:tcPr marL="87029" marR="87029" marT="43514" marB="43514" anchor="ctr">
                    <a:lnL>
                      <a:noFill/>
                    </a:lnL>
                    <a:lnR>
                      <a:noFill/>
                    </a:lnR>
                    <a:lnT>
                      <a:noFill/>
                    </a:lnT>
                    <a:lnB>
                      <a:noFill/>
                    </a:lnB>
                    <a:solidFill>
                      <a:srgbClr val="92D050"/>
                    </a:solidFill>
                  </a:tcPr>
                </a:tc>
                <a:tc>
                  <a:txBody>
                    <a:bodyPr/>
                    <a:lstStyle/>
                    <a:p>
                      <a:pPr>
                        <a:buNone/>
                      </a:pPr>
                      <a:r>
                        <a:rPr lang="en-US" sz="1700" dirty="0"/>
                        <a:t>Purpose</a:t>
                      </a:r>
                    </a:p>
                  </a:txBody>
                  <a:tcPr marL="87029" marR="87029" marT="43514" marB="43514" anchor="ctr">
                    <a:lnL>
                      <a:noFill/>
                    </a:lnL>
                    <a:lnR>
                      <a:noFill/>
                    </a:lnR>
                    <a:lnT>
                      <a:noFill/>
                    </a:lnT>
                    <a:lnB>
                      <a:noFill/>
                    </a:lnB>
                    <a:solidFill>
                      <a:srgbClr val="92D050"/>
                    </a:solidFill>
                  </a:tcPr>
                </a:tc>
                <a:extLst>
                  <a:ext uri="{0D108BD9-81ED-4DB2-BD59-A6C34878D82A}">
                    <a16:rowId xmlns:a16="http://schemas.microsoft.com/office/drawing/2014/main" val="1054213831"/>
                  </a:ext>
                </a:extLst>
              </a:tr>
              <a:tr h="421473">
                <a:tc>
                  <a:txBody>
                    <a:bodyPr/>
                    <a:lstStyle/>
                    <a:p>
                      <a:pPr>
                        <a:buNone/>
                      </a:pPr>
                      <a:r>
                        <a:rPr lang="en-US" sz="1700" dirty="0"/>
                        <a:t>n8n</a:t>
                      </a:r>
                    </a:p>
                  </a:txBody>
                  <a:tcPr marL="87029" marR="87029" marT="43514" marB="43514" anchor="ctr">
                    <a:lnL>
                      <a:noFill/>
                    </a:lnL>
                    <a:lnR>
                      <a:noFill/>
                    </a:lnR>
                    <a:lnT>
                      <a:noFill/>
                    </a:lnT>
                    <a:lnB>
                      <a:noFill/>
                    </a:lnB>
                    <a:noFill/>
                  </a:tcPr>
                </a:tc>
                <a:tc>
                  <a:txBody>
                    <a:bodyPr/>
                    <a:lstStyle/>
                    <a:p>
                      <a:pPr>
                        <a:buNone/>
                      </a:pPr>
                      <a:r>
                        <a:rPr lang="en-US" sz="1700"/>
                        <a:t>Workflow automation engine</a:t>
                      </a:r>
                    </a:p>
                  </a:txBody>
                  <a:tcPr marL="87029" marR="87029" marT="43514" marB="43514" anchor="ctr">
                    <a:lnL>
                      <a:noFill/>
                    </a:lnL>
                    <a:lnR>
                      <a:noFill/>
                    </a:lnR>
                    <a:lnT>
                      <a:noFill/>
                    </a:lnT>
                    <a:lnB>
                      <a:noFill/>
                    </a:lnB>
                    <a:noFill/>
                  </a:tcPr>
                </a:tc>
                <a:extLst>
                  <a:ext uri="{0D108BD9-81ED-4DB2-BD59-A6C34878D82A}">
                    <a16:rowId xmlns:a16="http://schemas.microsoft.com/office/drawing/2014/main" val="2255203844"/>
                  </a:ext>
                </a:extLst>
              </a:tr>
              <a:tr h="421473">
                <a:tc>
                  <a:txBody>
                    <a:bodyPr/>
                    <a:lstStyle/>
                    <a:p>
                      <a:pPr>
                        <a:buNone/>
                      </a:pPr>
                      <a:r>
                        <a:rPr lang="en-US" sz="1700"/>
                        <a:t>HTTP Nodes</a:t>
                      </a:r>
                    </a:p>
                  </a:txBody>
                  <a:tcPr marL="87029" marR="87029" marT="43514" marB="43514" anchor="ctr">
                    <a:lnL>
                      <a:noFill/>
                    </a:lnL>
                    <a:lnR>
                      <a:noFill/>
                    </a:lnR>
                    <a:lnT>
                      <a:noFill/>
                    </a:lnT>
                    <a:lnB>
                      <a:noFill/>
                    </a:lnB>
                    <a:noFill/>
                  </a:tcPr>
                </a:tc>
                <a:tc>
                  <a:txBody>
                    <a:bodyPr/>
                    <a:lstStyle/>
                    <a:p>
                      <a:pPr>
                        <a:buNone/>
                      </a:pPr>
                      <a:r>
                        <a:rPr lang="en-US" sz="1700"/>
                        <a:t>Data extraction</a:t>
                      </a:r>
                    </a:p>
                  </a:txBody>
                  <a:tcPr marL="87029" marR="87029" marT="43514" marB="43514" anchor="ctr">
                    <a:lnL>
                      <a:noFill/>
                    </a:lnL>
                    <a:lnR>
                      <a:noFill/>
                    </a:lnR>
                    <a:lnT>
                      <a:noFill/>
                    </a:lnT>
                    <a:lnB>
                      <a:noFill/>
                    </a:lnB>
                    <a:noFill/>
                  </a:tcPr>
                </a:tc>
                <a:extLst>
                  <a:ext uri="{0D108BD9-81ED-4DB2-BD59-A6C34878D82A}">
                    <a16:rowId xmlns:a16="http://schemas.microsoft.com/office/drawing/2014/main" val="3127685060"/>
                  </a:ext>
                </a:extLst>
              </a:tr>
              <a:tr h="421473">
                <a:tc>
                  <a:txBody>
                    <a:bodyPr/>
                    <a:lstStyle/>
                    <a:p>
                      <a:pPr>
                        <a:buNone/>
                      </a:pPr>
                      <a:r>
                        <a:rPr lang="en-US" sz="1700"/>
                        <a:t>AI Nodes</a:t>
                      </a:r>
                    </a:p>
                  </a:txBody>
                  <a:tcPr marL="87029" marR="87029" marT="43514" marB="43514" anchor="ctr">
                    <a:lnL>
                      <a:noFill/>
                    </a:lnL>
                    <a:lnR>
                      <a:noFill/>
                    </a:lnR>
                    <a:lnT>
                      <a:noFill/>
                    </a:lnT>
                    <a:lnB>
                      <a:noFill/>
                    </a:lnB>
                    <a:noFill/>
                  </a:tcPr>
                </a:tc>
                <a:tc>
                  <a:txBody>
                    <a:bodyPr/>
                    <a:lstStyle/>
                    <a:p>
                      <a:pPr>
                        <a:buNone/>
                      </a:pPr>
                      <a:r>
                        <a:rPr lang="en-US" sz="1700"/>
                        <a:t>Cleaning and analysis</a:t>
                      </a:r>
                    </a:p>
                  </a:txBody>
                  <a:tcPr marL="87029" marR="87029" marT="43514" marB="43514" anchor="ctr">
                    <a:lnL>
                      <a:noFill/>
                    </a:lnL>
                    <a:lnR>
                      <a:noFill/>
                    </a:lnR>
                    <a:lnT>
                      <a:noFill/>
                    </a:lnT>
                    <a:lnB>
                      <a:noFill/>
                    </a:lnB>
                    <a:noFill/>
                  </a:tcPr>
                </a:tc>
                <a:extLst>
                  <a:ext uri="{0D108BD9-81ED-4DB2-BD59-A6C34878D82A}">
                    <a16:rowId xmlns:a16="http://schemas.microsoft.com/office/drawing/2014/main" val="1780640161"/>
                  </a:ext>
                </a:extLst>
              </a:tr>
              <a:tr h="421473">
                <a:tc>
                  <a:txBody>
                    <a:bodyPr/>
                    <a:lstStyle/>
                    <a:p>
                      <a:pPr>
                        <a:buNone/>
                      </a:pPr>
                      <a:r>
                        <a:rPr lang="en-US" sz="1700"/>
                        <a:t>Database</a:t>
                      </a:r>
                    </a:p>
                  </a:txBody>
                  <a:tcPr marL="87029" marR="87029" marT="43514" marB="43514" anchor="ctr">
                    <a:lnL>
                      <a:noFill/>
                    </a:lnL>
                    <a:lnR>
                      <a:noFill/>
                    </a:lnR>
                    <a:lnT>
                      <a:noFill/>
                    </a:lnT>
                    <a:lnB>
                      <a:noFill/>
                    </a:lnB>
                    <a:noFill/>
                  </a:tcPr>
                </a:tc>
                <a:tc>
                  <a:txBody>
                    <a:bodyPr/>
                    <a:lstStyle/>
                    <a:p>
                      <a:pPr>
                        <a:buNone/>
                      </a:pPr>
                      <a:r>
                        <a:rPr lang="en-US" sz="1700"/>
                        <a:t>Historical storage</a:t>
                      </a:r>
                    </a:p>
                  </a:txBody>
                  <a:tcPr marL="87029" marR="87029" marT="43514" marB="43514" anchor="ctr">
                    <a:lnL>
                      <a:noFill/>
                    </a:lnL>
                    <a:lnR>
                      <a:noFill/>
                    </a:lnR>
                    <a:lnT>
                      <a:noFill/>
                    </a:lnT>
                    <a:lnB>
                      <a:noFill/>
                    </a:lnB>
                    <a:noFill/>
                  </a:tcPr>
                </a:tc>
                <a:extLst>
                  <a:ext uri="{0D108BD9-81ED-4DB2-BD59-A6C34878D82A}">
                    <a16:rowId xmlns:a16="http://schemas.microsoft.com/office/drawing/2014/main" val="3370914739"/>
                  </a:ext>
                </a:extLst>
              </a:tr>
              <a:tr h="708840">
                <a:tc>
                  <a:txBody>
                    <a:bodyPr/>
                    <a:lstStyle/>
                    <a:p>
                      <a:pPr>
                        <a:buNone/>
                      </a:pPr>
                      <a:r>
                        <a:rPr lang="en-US" sz="1700"/>
                        <a:t>Dashboard Tool (Power BI/Looker Studio/Tableau)</a:t>
                      </a:r>
                    </a:p>
                  </a:txBody>
                  <a:tcPr marL="87029" marR="87029" marT="43514" marB="43514" anchor="ctr">
                    <a:lnL>
                      <a:noFill/>
                    </a:lnL>
                    <a:lnR>
                      <a:noFill/>
                    </a:lnR>
                    <a:lnT>
                      <a:noFill/>
                    </a:lnT>
                    <a:lnB>
                      <a:noFill/>
                    </a:lnB>
                    <a:noFill/>
                  </a:tcPr>
                </a:tc>
                <a:tc>
                  <a:txBody>
                    <a:bodyPr/>
                    <a:lstStyle/>
                    <a:p>
                      <a:pPr>
                        <a:buNone/>
                      </a:pPr>
                      <a:r>
                        <a:rPr lang="en-US" sz="1700"/>
                        <a:t>Visualization</a:t>
                      </a:r>
                    </a:p>
                  </a:txBody>
                  <a:tcPr marL="87029" marR="87029" marT="43514" marB="43514" anchor="ctr">
                    <a:lnL>
                      <a:noFill/>
                    </a:lnL>
                    <a:lnR>
                      <a:noFill/>
                    </a:lnR>
                    <a:lnT>
                      <a:noFill/>
                    </a:lnT>
                    <a:lnB>
                      <a:noFill/>
                    </a:lnB>
                    <a:noFill/>
                  </a:tcPr>
                </a:tc>
                <a:extLst>
                  <a:ext uri="{0D108BD9-81ED-4DB2-BD59-A6C34878D82A}">
                    <a16:rowId xmlns:a16="http://schemas.microsoft.com/office/drawing/2014/main" val="2298889851"/>
                  </a:ext>
                </a:extLst>
              </a:tr>
              <a:tr h="421473">
                <a:tc>
                  <a:txBody>
                    <a:bodyPr/>
                    <a:lstStyle/>
                    <a:p>
                      <a:pPr>
                        <a:buNone/>
                      </a:pPr>
                      <a:r>
                        <a:rPr lang="en-US" sz="1700"/>
                        <a:t>Email/Teams Alerts</a:t>
                      </a:r>
                    </a:p>
                  </a:txBody>
                  <a:tcPr marL="87029" marR="87029" marT="43514" marB="43514" anchor="ctr">
                    <a:lnL>
                      <a:noFill/>
                    </a:lnL>
                    <a:lnR>
                      <a:noFill/>
                    </a:lnR>
                    <a:lnT>
                      <a:noFill/>
                    </a:lnT>
                    <a:lnB>
                      <a:noFill/>
                    </a:lnB>
                    <a:noFill/>
                  </a:tcPr>
                </a:tc>
                <a:tc>
                  <a:txBody>
                    <a:bodyPr/>
                    <a:lstStyle/>
                    <a:p>
                      <a:pPr>
                        <a:buNone/>
                      </a:pPr>
                      <a:r>
                        <a:rPr lang="en-US" sz="1700"/>
                        <a:t>Notifications</a:t>
                      </a:r>
                    </a:p>
                  </a:txBody>
                  <a:tcPr marL="87029" marR="87029" marT="43514" marB="43514" anchor="ctr">
                    <a:lnL>
                      <a:noFill/>
                    </a:lnL>
                    <a:lnR>
                      <a:noFill/>
                    </a:lnR>
                    <a:lnT>
                      <a:noFill/>
                    </a:lnT>
                    <a:lnB>
                      <a:noFill/>
                    </a:lnB>
                    <a:noFill/>
                  </a:tcPr>
                </a:tc>
                <a:extLst>
                  <a:ext uri="{0D108BD9-81ED-4DB2-BD59-A6C34878D82A}">
                    <a16:rowId xmlns:a16="http://schemas.microsoft.com/office/drawing/2014/main" val="4285905430"/>
                  </a:ext>
                </a:extLst>
              </a:tr>
              <a:tr h="421473">
                <a:tc>
                  <a:txBody>
                    <a:bodyPr/>
                    <a:lstStyle/>
                    <a:p>
                      <a:pPr>
                        <a:buNone/>
                      </a:pPr>
                      <a:r>
                        <a:rPr lang="en-US" sz="1700"/>
                        <a:t>Cloud Hosting</a:t>
                      </a:r>
                    </a:p>
                  </a:txBody>
                  <a:tcPr marL="87029" marR="87029" marT="43514" marB="43514" anchor="ctr">
                    <a:lnL>
                      <a:noFill/>
                    </a:lnL>
                    <a:lnR>
                      <a:noFill/>
                    </a:lnR>
                    <a:lnT>
                      <a:noFill/>
                    </a:lnT>
                    <a:lnB>
                      <a:noFill/>
                    </a:lnB>
                    <a:noFill/>
                  </a:tcPr>
                </a:tc>
                <a:tc>
                  <a:txBody>
                    <a:bodyPr/>
                    <a:lstStyle/>
                    <a:p>
                      <a:pPr>
                        <a:buNone/>
                      </a:pPr>
                      <a:r>
                        <a:rPr lang="en-US" sz="1700" dirty="0"/>
                        <a:t>Availability</a:t>
                      </a:r>
                    </a:p>
                  </a:txBody>
                  <a:tcPr marL="87029" marR="87029" marT="43514" marB="43514" anchor="ctr">
                    <a:lnL>
                      <a:noFill/>
                    </a:lnL>
                    <a:lnR>
                      <a:noFill/>
                    </a:lnR>
                    <a:lnT>
                      <a:noFill/>
                    </a:lnT>
                    <a:lnB>
                      <a:noFill/>
                    </a:lnB>
                    <a:noFill/>
                  </a:tcPr>
                </a:tc>
                <a:extLst>
                  <a:ext uri="{0D108BD9-81ED-4DB2-BD59-A6C34878D82A}">
                    <a16:rowId xmlns:a16="http://schemas.microsoft.com/office/drawing/2014/main" val="93010541"/>
                  </a:ext>
                </a:extLst>
              </a:tr>
            </a:tbl>
          </a:graphicData>
        </a:graphic>
      </p:graphicFrame>
    </p:spTree>
    <p:extLst>
      <p:ext uri="{BB962C8B-B14F-4D97-AF65-F5344CB8AC3E}">
        <p14:creationId xmlns:p14="http://schemas.microsoft.com/office/powerpoint/2010/main" val="2276175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E762B-ED21-616E-982C-8ADB567BF44D}"/>
              </a:ext>
            </a:extLst>
          </p:cNvPr>
          <p:cNvSpPr>
            <a:spLocks noGrp="1"/>
          </p:cNvSpPr>
          <p:nvPr>
            <p:ph type="title"/>
          </p:nvPr>
        </p:nvSpPr>
        <p:spPr/>
        <p:txBody>
          <a:bodyPr/>
          <a:lstStyle/>
          <a:p>
            <a:r>
              <a:rPr lang="en-US" dirty="0"/>
              <a:t>Potential External / Technology Costs</a:t>
            </a:r>
          </a:p>
        </p:txBody>
      </p:sp>
      <p:graphicFrame>
        <p:nvGraphicFramePr>
          <p:cNvPr id="4" name="Content Placeholder 3">
            <a:extLst>
              <a:ext uri="{FF2B5EF4-FFF2-40B4-BE49-F238E27FC236}">
                <a16:creationId xmlns:a16="http://schemas.microsoft.com/office/drawing/2014/main" id="{ED08783A-4357-8005-8319-44E2F32CA153}"/>
              </a:ext>
            </a:extLst>
          </p:cNvPr>
          <p:cNvGraphicFramePr>
            <a:graphicFrameLocks noGrp="1"/>
          </p:cNvGraphicFramePr>
          <p:nvPr>
            <p:ph idx="1"/>
            <p:extLst>
              <p:ext uri="{D42A27DB-BD31-4B8C-83A1-F6EECF244321}">
                <p14:modId xmlns:p14="http://schemas.microsoft.com/office/powerpoint/2010/main" val="3343419419"/>
              </p:ext>
            </p:extLst>
          </p:nvPr>
        </p:nvGraphicFramePr>
        <p:xfrm>
          <a:off x="1450975" y="2005781"/>
          <a:ext cx="9604374" cy="2832444"/>
        </p:xfrm>
        <a:graphic>
          <a:graphicData uri="http://schemas.openxmlformats.org/drawingml/2006/table">
            <a:tbl>
              <a:tblPr/>
              <a:tblGrid>
                <a:gridCol w="4802187">
                  <a:extLst>
                    <a:ext uri="{9D8B030D-6E8A-4147-A177-3AD203B41FA5}">
                      <a16:colId xmlns:a16="http://schemas.microsoft.com/office/drawing/2014/main" val="2294737079"/>
                    </a:ext>
                  </a:extLst>
                </a:gridCol>
                <a:gridCol w="4802187">
                  <a:extLst>
                    <a:ext uri="{9D8B030D-6E8A-4147-A177-3AD203B41FA5}">
                      <a16:colId xmlns:a16="http://schemas.microsoft.com/office/drawing/2014/main" val="1905691289"/>
                    </a:ext>
                  </a:extLst>
                </a:gridCol>
              </a:tblGrid>
              <a:tr h="472074">
                <a:tc>
                  <a:txBody>
                    <a:bodyPr/>
                    <a:lstStyle/>
                    <a:p>
                      <a:pPr>
                        <a:buNone/>
                      </a:pPr>
                      <a:r>
                        <a:rPr lang="en-US" sz="1800" dirty="0"/>
                        <a:t>Item</a:t>
                      </a:r>
                    </a:p>
                  </a:txBody>
                  <a:tcPr anchor="ctr">
                    <a:lnL>
                      <a:noFill/>
                    </a:lnL>
                    <a:lnR>
                      <a:noFill/>
                    </a:lnR>
                    <a:lnT>
                      <a:noFill/>
                    </a:lnT>
                    <a:lnB>
                      <a:noFill/>
                    </a:lnB>
                    <a:solidFill>
                      <a:srgbClr val="92D050"/>
                    </a:solidFill>
                  </a:tcPr>
                </a:tc>
                <a:tc>
                  <a:txBody>
                    <a:bodyPr/>
                    <a:lstStyle/>
                    <a:p>
                      <a:pPr>
                        <a:buNone/>
                      </a:pPr>
                      <a:r>
                        <a:rPr lang="en-US" sz="1800" dirty="0"/>
                        <a:t>Estimate</a:t>
                      </a:r>
                    </a:p>
                  </a:txBody>
                  <a:tcPr anchor="ctr">
                    <a:lnL>
                      <a:noFill/>
                    </a:lnL>
                    <a:lnR>
                      <a:noFill/>
                    </a:lnR>
                    <a:lnT>
                      <a:noFill/>
                    </a:lnT>
                    <a:lnB>
                      <a:noFill/>
                    </a:lnB>
                    <a:solidFill>
                      <a:srgbClr val="92D050"/>
                    </a:solidFill>
                  </a:tcPr>
                </a:tc>
                <a:extLst>
                  <a:ext uri="{0D108BD9-81ED-4DB2-BD59-A6C34878D82A}">
                    <a16:rowId xmlns:a16="http://schemas.microsoft.com/office/drawing/2014/main" val="2046732061"/>
                  </a:ext>
                </a:extLst>
              </a:tr>
              <a:tr h="472074">
                <a:tc>
                  <a:txBody>
                    <a:bodyPr/>
                    <a:lstStyle/>
                    <a:p>
                      <a:pPr>
                        <a:buNone/>
                      </a:pPr>
                      <a:r>
                        <a:rPr lang="en-US" sz="1800" dirty="0"/>
                        <a:t>n8n cloud/self-hosting</a:t>
                      </a:r>
                    </a:p>
                  </a:txBody>
                  <a:tcPr anchor="ctr">
                    <a:lnL>
                      <a:noFill/>
                    </a:lnL>
                    <a:lnR>
                      <a:noFill/>
                    </a:lnR>
                    <a:lnT>
                      <a:noFill/>
                    </a:lnT>
                    <a:lnB>
                      <a:noFill/>
                    </a:lnB>
                    <a:noFill/>
                  </a:tcPr>
                </a:tc>
                <a:tc>
                  <a:txBody>
                    <a:bodyPr/>
                    <a:lstStyle/>
                    <a:p>
                      <a:pPr>
                        <a:buNone/>
                      </a:pPr>
                      <a:r>
                        <a:rPr lang="en-US" sz="1800"/>
                        <a:t>Depends on deployment model</a:t>
                      </a:r>
                    </a:p>
                  </a:txBody>
                  <a:tcPr anchor="ctr">
                    <a:lnL>
                      <a:noFill/>
                    </a:lnL>
                    <a:lnR>
                      <a:noFill/>
                    </a:lnR>
                    <a:lnT>
                      <a:noFill/>
                    </a:lnT>
                    <a:lnB>
                      <a:noFill/>
                    </a:lnB>
                    <a:noFill/>
                  </a:tcPr>
                </a:tc>
                <a:extLst>
                  <a:ext uri="{0D108BD9-81ED-4DB2-BD59-A6C34878D82A}">
                    <a16:rowId xmlns:a16="http://schemas.microsoft.com/office/drawing/2014/main" val="1361092680"/>
                  </a:ext>
                </a:extLst>
              </a:tr>
              <a:tr h="472074">
                <a:tc>
                  <a:txBody>
                    <a:bodyPr/>
                    <a:lstStyle/>
                    <a:p>
                      <a:pPr>
                        <a:buNone/>
                      </a:pPr>
                      <a:r>
                        <a:rPr lang="en-US" sz="1800" dirty="0"/>
                        <a:t>AI API usage</a:t>
                      </a:r>
                    </a:p>
                  </a:txBody>
                  <a:tcPr anchor="ctr">
                    <a:lnL>
                      <a:noFill/>
                    </a:lnL>
                    <a:lnR>
                      <a:noFill/>
                    </a:lnR>
                    <a:lnT>
                      <a:noFill/>
                    </a:lnT>
                    <a:lnB>
                      <a:noFill/>
                    </a:lnB>
                    <a:noFill/>
                  </a:tcPr>
                </a:tc>
                <a:tc>
                  <a:txBody>
                    <a:bodyPr/>
                    <a:lstStyle/>
                    <a:p>
                      <a:pPr>
                        <a:buNone/>
                      </a:pPr>
                      <a:r>
                        <a:rPr lang="en-US" sz="1800"/>
                        <a:t>Monthly consumption based</a:t>
                      </a:r>
                    </a:p>
                  </a:txBody>
                  <a:tcPr anchor="ctr">
                    <a:lnL>
                      <a:noFill/>
                    </a:lnL>
                    <a:lnR>
                      <a:noFill/>
                    </a:lnR>
                    <a:lnT>
                      <a:noFill/>
                    </a:lnT>
                    <a:lnB>
                      <a:noFill/>
                    </a:lnB>
                    <a:noFill/>
                  </a:tcPr>
                </a:tc>
                <a:extLst>
                  <a:ext uri="{0D108BD9-81ED-4DB2-BD59-A6C34878D82A}">
                    <a16:rowId xmlns:a16="http://schemas.microsoft.com/office/drawing/2014/main" val="2592743040"/>
                  </a:ext>
                </a:extLst>
              </a:tr>
              <a:tr h="472074">
                <a:tc>
                  <a:txBody>
                    <a:bodyPr/>
                    <a:lstStyle/>
                    <a:p>
                      <a:pPr>
                        <a:buNone/>
                      </a:pPr>
                      <a:r>
                        <a:rPr lang="en-US" sz="1800"/>
                        <a:t>Dashboard licensing</a:t>
                      </a:r>
                    </a:p>
                  </a:txBody>
                  <a:tcPr anchor="ctr">
                    <a:lnL>
                      <a:noFill/>
                    </a:lnL>
                    <a:lnR>
                      <a:noFill/>
                    </a:lnR>
                    <a:lnT>
                      <a:noFill/>
                    </a:lnT>
                    <a:lnB>
                      <a:noFill/>
                    </a:lnB>
                    <a:noFill/>
                  </a:tcPr>
                </a:tc>
                <a:tc>
                  <a:txBody>
                    <a:bodyPr/>
                    <a:lstStyle/>
                    <a:p>
                      <a:pPr>
                        <a:buNone/>
                      </a:pPr>
                      <a:r>
                        <a:rPr lang="en-US" sz="1800"/>
                        <a:t>Depends on selected platform</a:t>
                      </a:r>
                    </a:p>
                  </a:txBody>
                  <a:tcPr anchor="ctr">
                    <a:lnL>
                      <a:noFill/>
                    </a:lnL>
                    <a:lnR>
                      <a:noFill/>
                    </a:lnR>
                    <a:lnT>
                      <a:noFill/>
                    </a:lnT>
                    <a:lnB>
                      <a:noFill/>
                    </a:lnB>
                    <a:noFill/>
                  </a:tcPr>
                </a:tc>
                <a:extLst>
                  <a:ext uri="{0D108BD9-81ED-4DB2-BD59-A6C34878D82A}">
                    <a16:rowId xmlns:a16="http://schemas.microsoft.com/office/drawing/2014/main" val="1862562924"/>
                  </a:ext>
                </a:extLst>
              </a:tr>
              <a:tr h="472074">
                <a:tc>
                  <a:txBody>
                    <a:bodyPr/>
                    <a:lstStyle/>
                    <a:p>
                      <a:pPr>
                        <a:buNone/>
                      </a:pPr>
                      <a:r>
                        <a:rPr lang="en-US" sz="1800" dirty="0"/>
                        <a:t>GIT Hub hosting</a:t>
                      </a:r>
                    </a:p>
                  </a:txBody>
                  <a:tcPr anchor="ctr">
                    <a:lnL>
                      <a:noFill/>
                    </a:lnL>
                    <a:lnR>
                      <a:noFill/>
                    </a:lnR>
                    <a:lnT>
                      <a:noFill/>
                    </a:lnT>
                    <a:lnB>
                      <a:noFill/>
                    </a:lnB>
                    <a:noFill/>
                  </a:tcPr>
                </a:tc>
                <a:tc>
                  <a:txBody>
                    <a:bodyPr/>
                    <a:lstStyle/>
                    <a:p>
                      <a:pPr>
                        <a:buNone/>
                      </a:pPr>
                      <a:r>
                        <a:rPr lang="en-US" sz="1800" dirty="0"/>
                        <a:t>Monthly subscription/ infrastructure cost</a:t>
                      </a:r>
                    </a:p>
                  </a:txBody>
                  <a:tcPr anchor="ctr">
                    <a:lnL>
                      <a:noFill/>
                    </a:lnL>
                    <a:lnR>
                      <a:noFill/>
                    </a:lnR>
                    <a:lnT>
                      <a:noFill/>
                    </a:lnT>
                    <a:lnB>
                      <a:noFill/>
                    </a:lnB>
                    <a:noFill/>
                  </a:tcPr>
                </a:tc>
                <a:extLst>
                  <a:ext uri="{0D108BD9-81ED-4DB2-BD59-A6C34878D82A}">
                    <a16:rowId xmlns:a16="http://schemas.microsoft.com/office/drawing/2014/main" val="3080198301"/>
                  </a:ext>
                </a:extLst>
              </a:tr>
              <a:tr h="472074">
                <a:tc>
                  <a:txBody>
                    <a:bodyPr/>
                    <a:lstStyle/>
                    <a:p>
                      <a:pPr>
                        <a:buNone/>
                      </a:pPr>
                      <a:r>
                        <a:rPr lang="en-US" sz="1800" dirty="0"/>
                        <a:t>Monitoring tools</a:t>
                      </a:r>
                    </a:p>
                  </a:txBody>
                  <a:tcPr anchor="ctr">
                    <a:lnL>
                      <a:noFill/>
                    </a:lnL>
                    <a:lnR>
                      <a:noFill/>
                    </a:lnR>
                    <a:lnT>
                      <a:noFill/>
                    </a:lnT>
                    <a:lnB>
                      <a:noFill/>
                    </a:lnB>
                    <a:noFill/>
                  </a:tcPr>
                </a:tc>
                <a:tc>
                  <a:txBody>
                    <a:bodyPr/>
                    <a:lstStyle/>
                    <a:p>
                      <a:pPr>
                        <a:buNone/>
                      </a:pPr>
                      <a:r>
                        <a:rPr lang="en-US" sz="1800" dirty="0"/>
                        <a:t>Optional</a:t>
                      </a:r>
                    </a:p>
                  </a:txBody>
                  <a:tcPr anchor="ctr">
                    <a:lnL>
                      <a:noFill/>
                    </a:lnL>
                    <a:lnR>
                      <a:noFill/>
                    </a:lnR>
                    <a:lnT>
                      <a:noFill/>
                    </a:lnT>
                    <a:lnB>
                      <a:noFill/>
                    </a:lnB>
                    <a:noFill/>
                  </a:tcPr>
                </a:tc>
                <a:extLst>
                  <a:ext uri="{0D108BD9-81ED-4DB2-BD59-A6C34878D82A}">
                    <a16:rowId xmlns:a16="http://schemas.microsoft.com/office/drawing/2014/main" val="80471008"/>
                  </a:ext>
                </a:extLst>
              </a:tr>
            </a:tbl>
          </a:graphicData>
        </a:graphic>
      </p:graphicFrame>
    </p:spTree>
    <p:extLst>
      <p:ext uri="{BB962C8B-B14F-4D97-AF65-F5344CB8AC3E}">
        <p14:creationId xmlns:p14="http://schemas.microsoft.com/office/powerpoint/2010/main" val="2834252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BA525-F1D3-6C0F-4345-6015CECF8581}"/>
              </a:ext>
            </a:extLst>
          </p:cNvPr>
          <p:cNvSpPr>
            <a:spLocks noGrp="1"/>
          </p:cNvSpPr>
          <p:nvPr>
            <p:ph type="title"/>
          </p:nvPr>
        </p:nvSpPr>
        <p:spPr/>
        <p:txBody>
          <a:bodyPr/>
          <a:lstStyle/>
          <a:p>
            <a:r>
              <a:rPr lang="en-US" dirty="0"/>
              <a:t>Key Risks and Mitigation</a:t>
            </a:r>
          </a:p>
        </p:txBody>
      </p:sp>
      <p:graphicFrame>
        <p:nvGraphicFramePr>
          <p:cNvPr id="4" name="Content Placeholder 3">
            <a:extLst>
              <a:ext uri="{FF2B5EF4-FFF2-40B4-BE49-F238E27FC236}">
                <a16:creationId xmlns:a16="http://schemas.microsoft.com/office/drawing/2014/main" id="{0C874734-BB2A-3C51-5AEE-E272F80B01F3}"/>
              </a:ext>
            </a:extLst>
          </p:cNvPr>
          <p:cNvGraphicFramePr>
            <a:graphicFrameLocks noGrp="1"/>
          </p:cNvGraphicFramePr>
          <p:nvPr>
            <p:ph idx="1"/>
            <p:extLst>
              <p:ext uri="{D42A27DB-BD31-4B8C-83A1-F6EECF244321}">
                <p14:modId xmlns:p14="http://schemas.microsoft.com/office/powerpoint/2010/main" val="2961342151"/>
              </p:ext>
            </p:extLst>
          </p:nvPr>
        </p:nvGraphicFramePr>
        <p:xfrm>
          <a:off x="1450975" y="1966451"/>
          <a:ext cx="9604374" cy="3480618"/>
        </p:xfrm>
        <a:graphic>
          <a:graphicData uri="http://schemas.openxmlformats.org/drawingml/2006/table">
            <a:tbl>
              <a:tblPr/>
              <a:tblGrid>
                <a:gridCol w="4802187">
                  <a:extLst>
                    <a:ext uri="{9D8B030D-6E8A-4147-A177-3AD203B41FA5}">
                      <a16:colId xmlns:a16="http://schemas.microsoft.com/office/drawing/2014/main" val="996999374"/>
                    </a:ext>
                  </a:extLst>
                </a:gridCol>
                <a:gridCol w="4802187">
                  <a:extLst>
                    <a:ext uri="{9D8B030D-6E8A-4147-A177-3AD203B41FA5}">
                      <a16:colId xmlns:a16="http://schemas.microsoft.com/office/drawing/2014/main" val="1599351120"/>
                    </a:ext>
                  </a:extLst>
                </a:gridCol>
              </a:tblGrid>
              <a:tr h="580103">
                <a:tc>
                  <a:txBody>
                    <a:bodyPr/>
                    <a:lstStyle/>
                    <a:p>
                      <a:pPr>
                        <a:buNone/>
                      </a:pPr>
                      <a:r>
                        <a:rPr lang="en-US" sz="1800" dirty="0"/>
                        <a:t>Risk</a:t>
                      </a:r>
                    </a:p>
                  </a:txBody>
                  <a:tcPr anchor="ctr">
                    <a:lnL>
                      <a:noFill/>
                    </a:lnL>
                    <a:lnR>
                      <a:noFill/>
                    </a:lnR>
                    <a:lnT>
                      <a:noFill/>
                    </a:lnT>
                    <a:lnB>
                      <a:noFill/>
                    </a:lnB>
                    <a:solidFill>
                      <a:srgbClr val="92D050"/>
                    </a:solidFill>
                  </a:tcPr>
                </a:tc>
                <a:tc>
                  <a:txBody>
                    <a:bodyPr/>
                    <a:lstStyle/>
                    <a:p>
                      <a:pPr>
                        <a:buNone/>
                      </a:pPr>
                      <a:r>
                        <a:rPr lang="en-US" sz="1800" dirty="0"/>
                        <a:t>Mitigation</a:t>
                      </a:r>
                    </a:p>
                  </a:txBody>
                  <a:tcPr anchor="ctr">
                    <a:lnL>
                      <a:noFill/>
                    </a:lnL>
                    <a:lnR>
                      <a:noFill/>
                    </a:lnR>
                    <a:lnT>
                      <a:noFill/>
                    </a:lnT>
                    <a:lnB>
                      <a:noFill/>
                    </a:lnB>
                    <a:solidFill>
                      <a:srgbClr val="92D050"/>
                    </a:solidFill>
                  </a:tcPr>
                </a:tc>
                <a:extLst>
                  <a:ext uri="{0D108BD9-81ED-4DB2-BD59-A6C34878D82A}">
                    <a16:rowId xmlns:a16="http://schemas.microsoft.com/office/drawing/2014/main" val="850900189"/>
                  </a:ext>
                </a:extLst>
              </a:tr>
              <a:tr h="580103">
                <a:tc>
                  <a:txBody>
                    <a:bodyPr/>
                    <a:lstStyle/>
                    <a:p>
                      <a:pPr>
                        <a:buNone/>
                      </a:pPr>
                      <a:r>
                        <a:rPr lang="en-US" sz="1800" dirty="0"/>
                        <a:t>Website structure changes</a:t>
                      </a:r>
                    </a:p>
                  </a:txBody>
                  <a:tcPr anchor="ctr">
                    <a:lnL>
                      <a:noFill/>
                    </a:lnL>
                    <a:lnR>
                      <a:noFill/>
                    </a:lnR>
                    <a:lnT>
                      <a:noFill/>
                    </a:lnT>
                    <a:lnB>
                      <a:noFill/>
                    </a:lnB>
                    <a:noFill/>
                  </a:tcPr>
                </a:tc>
                <a:tc>
                  <a:txBody>
                    <a:bodyPr/>
                    <a:lstStyle/>
                    <a:p>
                      <a:pPr>
                        <a:buNone/>
                      </a:pPr>
                      <a:r>
                        <a:rPr lang="en-US" sz="1800"/>
                        <a:t>Flexible extraction logic</a:t>
                      </a:r>
                    </a:p>
                  </a:txBody>
                  <a:tcPr anchor="ctr">
                    <a:lnL>
                      <a:noFill/>
                    </a:lnL>
                    <a:lnR>
                      <a:noFill/>
                    </a:lnR>
                    <a:lnT>
                      <a:noFill/>
                    </a:lnT>
                    <a:lnB>
                      <a:noFill/>
                    </a:lnB>
                    <a:noFill/>
                  </a:tcPr>
                </a:tc>
                <a:extLst>
                  <a:ext uri="{0D108BD9-81ED-4DB2-BD59-A6C34878D82A}">
                    <a16:rowId xmlns:a16="http://schemas.microsoft.com/office/drawing/2014/main" val="1855224513"/>
                  </a:ext>
                </a:extLst>
              </a:tr>
              <a:tr h="580103">
                <a:tc>
                  <a:txBody>
                    <a:bodyPr/>
                    <a:lstStyle/>
                    <a:p>
                      <a:pPr>
                        <a:buNone/>
                      </a:pPr>
                      <a:r>
                        <a:rPr lang="en-US" sz="1800"/>
                        <a:t>Incorrect source data</a:t>
                      </a:r>
                    </a:p>
                  </a:txBody>
                  <a:tcPr anchor="ctr">
                    <a:lnL>
                      <a:noFill/>
                    </a:lnL>
                    <a:lnR>
                      <a:noFill/>
                    </a:lnR>
                    <a:lnT>
                      <a:noFill/>
                    </a:lnT>
                    <a:lnB>
                      <a:noFill/>
                    </a:lnB>
                    <a:noFill/>
                  </a:tcPr>
                </a:tc>
                <a:tc>
                  <a:txBody>
                    <a:bodyPr/>
                    <a:lstStyle/>
                    <a:p>
                      <a:pPr>
                        <a:buNone/>
                      </a:pPr>
                      <a:r>
                        <a:rPr lang="en-US" sz="1800"/>
                        <a:t>Validation rules</a:t>
                      </a:r>
                    </a:p>
                  </a:txBody>
                  <a:tcPr anchor="ctr">
                    <a:lnL>
                      <a:noFill/>
                    </a:lnL>
                    <a:lnR>
                      <a:noFill/>
                    </a:lnR>
                    <a:lnT>
                      <a:noFill/>
                    </a:lnT>
                    <a:lnB>
                      <a:noFill/>
                    </a:lnB>
                    <a:noFill/>
                  </a:tcPr>
                </a:tc>
                <a:extLst>
                  <a:ext uri="{0D108BD9-81ED-4DB2-BD59-A6C34878D82A}">
                    <a16:rowId xmlns:a16="http://schemas.microsoft.com/office/drawing/2014/main" val="829242141"/>
                  </a:ext>
                </a:extLst>
              </a:tr>
              <a:tr h="580103">
                <a:tc>
                  <a:txBody>
                    <a:bodyPr/>
                    <a:lstStyle/>
                    <a:p>
                      <a:pPr>
                        <a:buNone/>
                      </a:pPr>
                      <a:r>
                        <a:rPr lang="en-US" sz="1800"/>
                        <a:t>AI errors</a:t>
                      </a:r>
                    </a:p>
                  </a:txBody>
                  <a:tcPr anchor="ctr">
                    <a:lnL>
                      <a:noFill/>
                    </a:lnL>
                    <a:lnR>
                      <a:noFill/>
                    </a:lnR>
                    <a:lnT>
                      <a:noFill/>
                    </a:lnT>
                    <a:lnB>
                      <a:noFill/>
                    </a:lnB>
                    <a:noFill/>
                  </a:tcPr>
                </a:tc>
                <a:tc>
                  <a:txBody>
                    <a:bodyPr/>
                    <a:lstStyle/>
                    <a:p>
                      <a:pPr>
                        <a:buNone/>
                      </a:pPr>
                      <a:r>
                        <a:rPr lang="en-US" sz="1800" dirty="0"/>
                        <a:t>Human approval checkpoints</a:t>
                      </a:r>
                    </a:p>
                  </a:txBody>
                  <a:tcPr anchor="ctr">
                    <a:lnL>
                      <a:noFill/>
                    </a:lnL>
                    <a:lnR>
                      <a:noFill/>
                    </a:lnR>
                    <a:lnT>
                      <a:noFill/>
                    </a:lnT>
                    <a:lnB>
                      <a:noFill/>
                    </a:lnB>
                    <a:noFill/>
                  </a:tcPr>
                </a:tc>
                <a:extLst>
                  <a:ext uri="{0D108BD9-81ED-4DB2-BD59-A6C34878D82A}">
                    <a16:rowId xmlns:a16="http://schemas.microsoft.com/office/drawing/2014/main" val="1922016857"/>
                  </a:ext>
                </a:extLst>
              </a:tr>
              <a:tr h="580103">
                <a:tc>
                  <a:txBody>
                    <a:bodyPr/>
                    <a:lstStyle/>
                    <a:p>
                      <a:pPr>
                        <a:buNone/>
                      </a:pPr>
                      <a:r>
                        <a:rPr lang="en-US" sz="1800"/>
                        <a:t>System downtime</a:t>
                      </a:r>
                    </a:p>
                  </a:txBody>
                  <a:tcPr anchor="ctr">
                    <a:lnL>
                      <a:noFill/>
                    </a:lnL>
                    <a:lnR>
                      <a:noFill/>
                    </a:lnR>
                    <a:lnT>
                      <a:noFill/>
                    </a:lnT>
                    <a:lnB>
                      <a:noFill/>
                    </a:lnB>
                    <a:noFill/>
                  </a:tcPr>
                </a:tc>
                <a:tc>
                  <a:txBody>
                    <a:bodyPr/>
                    <a:lstStyle/>
                    <a:p>
                      <a:pPr>
                        <a:buNone/>
                      </a:pPr>
                      <a:r>
                        <a:rPr lang="en-US" sz="1800"/>
                        <a:t>Retry and fallback workflows</a:t>
                      </a:r>
                    </a:p>
                  </a:txBody>
                  <a:tcPr anchor="ctr">
                    <a:lnL>
                      <a:noFill/>
                    </a:lnL>
                    <a:lnR>
                      <a:noFill/>
                    </a:lnR>
                    <a:lnT>
                      <a:noFill/>
                    </a:lnT>
                    <a:lnB>
                      <a:noFill/>
                    </a:lnB>
                    <a:noFill/>
                  </a:tcPr>
                </a:tc>
                <a:extLst>
                  <a:ext uri="{0D108BD9-81ED-4DB2-BD59-A6C34878D82A}">
                    <a16:rowId xmlns:a16="http://schemas.microsoft.com/office/drawing/2014/main" val="3071510838"/>
                  </a:ext>
                </a:extLst>
              </a:tr>
              <a:tr h="580103">
                <a:tc>
                  <a:txBody>
                    <a:bodyPr/>
                    <a:lstStyle/>
                    <a:p>
                      <a:pPr>
                        <a:buNone/>
                      </a:pPr>
                      <a:r>
                        <a:rPr lang="en-US" sz="1800"/>
                        <a:t>Data security concerns</a:t>
                      </a:r>
                    </a:p>
                  </a:txBody>
                  <a:tcPr anchor="ctr">
                    <a:lnL>
                      <a:noFill/>
                    </a:lnL>
                    <a:lnR>
                      <a:noFill/>
                    </a:lnR>
                    <a:lnT>
                      <a:noFill/>
                    </a:lnT>
                    <a:lnB>
                      <a:noFill/>
                    </a:lnB>
                    <a:noFill/>
                  </a:tcPr>
                </a:tc>
                <a:tc>
                  <a:txBody>
                    <a:bodyPr/>
                    <a:lstStyle/>
                    <a:p>
                      <a:pPr>
                        <a:buNone/>
                      </a:pPr>
                      <a:r>
                        <a:rPr lang="en-US" sz="1800" dirty="0"/>
                        <a:t>Access controls and encryption</a:t>
                      </a:r>
                    </a:p>
                  </a:txBody>
                  <a:tcPr anchor="ctr">
                    <a:lnL>
                      <a:noFill/>
                    </a:lnL>
                    <a:lnR>
                      <a:noFill/>
                    </a:lnR>
                    <a:lnT>
                      <a:noFill/>
                    </a:lnT>
                    <a:lnB>
                      <a:noFill/>
                    </a:lnB>
                    <a:noFill/>
                  </a:tcPr>
                </a:tc>
                <a:extLst>
                  <a:ext uri="{0D108BD9-81ED-4DB2-BD59-A6C34878D82A}">
                    <a16:rowId xmlns:a16="http://schemas.microsoft.com/office/drawing/2014/main" val="4268562172"/>
                  </a:ext>
                </a:extLst>
              </a:tr>
            </a:tbl>
          </a:graphicData>
        </a:graphic>
      </p:graphicFrame>
    </p:spTree>
    <p:extLst>
      <p:ext uri="{BB962C8B-B14F-4D97-AF65-F5344CB8AC3E}">
        <p14:creationId xmlns:p14="http://schemas.microsoft.com/office/powerpoint/2010/main" val="2884343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03CD6-C7F6-C1E0-B9ED-566D79DF394B}"/>
              </a:ext>
            </a:extLst>
          </p:cNvPr>
          <p:cNvSpPr>
            <a:spLocks noGrp="1"/>
          </p:cNvSpPr>
          <p:nvPr>
            <p:ph type="title"/>
          </p:nvPr>
        </p:nvSpPr>
        <p:spPr/>
        <p:txBody>
          <a:bodyPr/>
          <a:lstStyle/>
          <a:p>
            <a:r>
              <a:rPr lang="en-US" dirty="0"/>
              <a:t>Actual Workflow diagram</a:t>
            </a:r>
          </a:p>
        </p:txBody>
      </p:sp>
      <p:pic>
        <p:nvPicPr>
          <p:cNvPr id="7" name="Content Placeholder 6">
            <a:extLst>
              <a:ext uri="{FF2B5EF4-FFF2-40B4-BE49-F238E27FC236}">
                <a16:creationId xmlns:a16="http://schemas.microsoft.com/office/drawing/2014/main" id="{D27A1DD2-7553-28DB-0FD2-649287061EA6}"/>
              </a:ext>
            </a:extLst>
          </p:cNvPr>
          <p:cNvPicPr>
            <a:picLocks noGrp="1" noChangeAspect="1"/>
          </p:cNvPicPr>
          <p:nvPr>
            <p:ph idx="1"/>
          </p:nvPr>
        </p:nvPicPr>
        <p:blipFill>
          <a:blip r:embed="rId2"/>
          <a:stretch>
            <a:fillRect/>
          </a:stretch>
        </p:blipFill>
        <p:spPr>
          <a:xfrm>
            <a:off x="3814762" y="2459831"/>
            <a:ext cx="5483350" cy="3478632"/>
          </a:xfrm>
          <a:prstGeom prst="rect">
            <a:avLst/>
          </a:prstGeom>
        </p:spPr>
      </p:pic>
    </p:spTree>
    <p:extLst>
      <p:ext uri="{BB962C8B-B14F-4D97-AF65-F5344CB8AC3E}">
        <p14:creationId xmlns:p14="http://schemas.microsoft.com/office/powerpoint/2010/main" val="2487646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2C96A-8D4E-E901-68E7-73FD5E3A85B0}"/>
              </a:ext>
            </a:extLst>
          </p:cNvPr>
          <p:cNvSpPr>
            <a:spLocks noGrp="1"/>
          </p:cNvSpPr>
          <p:nvPr>
            <p:ph type="title"/>
          </p:nvPr>
        </p:nvSpPr>
        <p:spPr/>
        <p:txBody>
          <a:bodyPr/>
          <a:lstStyle/>
          <a:p>
            <a:r>
              <a:rPr lang="en-US" dirty="0"/>
              <a:t>Screen shots </a:t>
            </a:r>
          </a:p>
        </p:txBody>
      </p:sp>
      <p:pic>
        <p:nvPicPr>
          <p:cNvPr id="4" name="Picture 3">
            <a:extLst>
              <a:ext uri="{FF2B5EF4-FFF2-40B4-BE49-F238E27FC236}">
                <a16:creationId xmlns:a16="http://schemas.microsoft.com/office/drawing/2014/main" id="{448D4C77-D5CA-4B8F-8E87-59529218DA76}"/>
              </a:ext>
            </a:extLst>
          </p:cNvPr>
          <p:cNvPicPr>
            <a:picLocks noChangeAspect="1"/>
          </p:cNvPicPr>
          <p:nvPr/>
        </p:nvPicPr>
        <p:blipFill>
          <a:blip r:embed="rId2"/>
          <a:stretch>
            <a:fillRect/>
          </a:stretch>
        </p:blipFill>
        <p:spPr>
          <a:xfrm>
            <a:off x="89474" y="1435967"/>
            <a:ext cx="6281570" cy="2220624"/>
          </a:xfrm>
          <a:prstGeom prst="rect">
            <a:avLst/>
          </a:prstGeom>
        </p:spPr>
      </p:pic>
      <p:pic>
        <p:nvPicPr>
          <p:cNvPr id="6" name="Picture 5">
            <a:extLst>
              <a:ext uri="{FF2B5EF4-FFF2-40B4-BE49-F238E27FC236}">
                <a16:creationId xmlns:a16="http://schemas.microsoft.com/office/drawing/2014/main" id="{47145DA4-BEE4-4E3E-B978-E3E0DA3DE53B}"/>
              </a:ext>
            </a:extLst>
          </p:cNvPr>
          <p:cNvPicPr>
            <a:picLocks noChangeAspect="1"/>
          </p:cNvPicPr>
          <p:nvPr/>
        </p:nvPicPr>
        <p:blipFill>
          <a:blip r:embed="rId3"/>
          <a:stretch>
            <a:fillRect/>
          </a:stretch>
        </p:blipFill>
        <p:spPr>
          <a:xfrm>
            <a:off x="6371044" y="1361681"/>
            <a:ext cx="5731482" cy="2159285"/>
          </a:xfrm>
          <a:prstGeom prst="rect">
            <a:avLst/>
          </a:prstGeom>
        </p:spPr>
      </p:pic>
      <p:pic>
        <p:nvPicPr>
          <p:cNvPr id="8" name="Picture 7">
            <a:extLst>
              <a:ext uri="{FF2B5EF4-FFF2-40B4-BE49-F238E27FC236}">
                <a16:creationId xmlns:a16="http://schemas.microsoft.com/office/drawing/2014/main" id="{FA41394E-3C1C-4BBF-8FCF-1902BE3DA1A5}"/>
              </a:ext>
            </a:extLst>
          </p:cNvPr>
          <p:cNvPicPr>
            <a:picLocks noChangeAspect="1"/>
          </p:cNvPicPr>
          <p:nvPr/>
        </p:nvPicPr>
        <p:blipFill>
          <a:blip r:embed="rId4"/>
          <a:stretch>
            <a:fillRect/>
          </a:stretch>
        </p:blipFill>
        <p:spPr>
          <a:xfrm>
            <a:off x="89474" y="3656592"/>
            <a:ext cx="6314871" cy="2396890"/>
          </a:xfrm>
          <a:prstGeom prst="rect">
            <a:avLst/>
          </a:prstGeom>
        </p:spPr>
      </p:pic>
      <p:pic>
        <p:nvPicPr>
          <p:cNvPr id="9" name="Content Placeholder 4">
            <a:extLst>
              <a:ext uri="{FF2B5EF4-FFF2-40B4-BE49-F238E27FC236}">
                <a16:creationId xmlns:a16="http://schemas.microsoft.com/office/drawing/2014/main" id="{98A0B28A-B542-4ED8-80D0-104143F835C4}"/>
              </a:ext>
            </a:extLst>
          </p:cNvPr>
          <p:cNvPicPr>
            <a:picLocks noChangeAspect="1"/>
          </p:cNvPicPr>
          <p:nvPr/>
        </p:nvPicPr>
        <p:blipFill>
          <a:blip r:embed="rId5"/>
          <a:stretch>
            <a:fillRect/>
          </a:stretch>
        </p:blipFill>
        <p:spPr>
          <a:xfrm>
            <a:off x="6460518" y="3656591"/>
            <a:ext cx="5731482" cy="2396890"/>
          </a:xfrm>
          <a:prstGeom prst="rect">
            <a:avLst/>
          </a:prstGeom>
        </p:spPr>
      </p:pic>
    </p:spTree>
    <p:extLst>
      <p:ext uri="{BB962C8B-B14F-4D97-AF65-F5344CB8AC3E}">
        <p14:creationId xmlns:p14="http://schemas.microsoft.com/office/powerpoint/2010/main" val="2374220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18D0D-C39F-4B1B-A5E3-46AE549AB987}"/>
              </a:ext>
            </a:extLst>
          </p:cNvPr>
          <p:cNvSpPr>
            <a:spLocks noGrp="1"/>
          </p:cNvSpPr>
          <p:nvPr>
            <p:ph type="title"/>
          </p:nvPr>
        </p:nvSpPr>
        <p:spPr/>
        <p:txBody>
          <a:bodyPr/>
          <a:lstStyle/>
          <a:p>
            <a:r>
              <a:rPr lang="en-US" dirty="0"/>
              <a:t>Output screen shots</a:t>
            </a:r>
          </a:p>
        </p:txBody>
      </p:sp>
      <p:pic>
        <p:nvPicPr>
          <p:cNvPr id="7" name="Picture 6">
            <a:extLst>
              <a:ext uri="{FF2B5EF4-FFF2-40B4-BE49-F238E27FC236}">
                <a16:creationId xmlns:a16="http://schemas.microsoft.com/office/drawing/2014/main" id="{51CF513C-7730-48A3-A6D4-D8BC62498A36}"/>
              </a:ext>
            </a:extLst>
          </p:cNvPr>
          <p:cNvPicPr>
            <a:picLocks noChangeAspect="1"/>
          </p:cNvPicPr>
          <p:nvPr/>
        </p:nvPicPr>
        <p:blipFill>
          <a:blip r:embed="rId2"/>
          <a:stretch>
            <a:fillRect/>
          </a:stretch>
        </p:blipFill>
        <p:spPr>
          <a:xfrm>
            <a:off x="1229710" y="1618594"/>
            <a:ext cx="10689021" cy="3765942"/>
          </a:xfrm>
          <a:prstGeom prst="rect">
            <a:avLst/>
          </a:prstGeom>
        </p:spPr>
      </p:pic>
    </p:spTree>
    <p:extLst>
      <p:ext uri="{BB962C8B-B14F-4D97-AF65-F5344CB8AC3E}">
        <p14:creationId xmlns:p14="http://schemas.microsoft.com/office/powerpoint/2010/main" val="3792843120"/>
      </p:ext>
    </p:extLst>
  </p:cSld>
  <p:clrMapOvr>
    <a:masterClrMapping/>
  </p:clrMapOvr>
</p:sld>
</file>

<file path=ppt/theme/theme1.xml><?xml version="1.0" encoding="utf-8"?>
<a:theme xmlns:a="http://schemas.openxmlformats.org/drawingml/2006/main" name="Northern light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ustom 13">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rthern Lights_win32_LW_v8" id="{3A4E34A6-668B-44CB-918B-D16B4D66424F}" vid="{9B1B68C5-1665-4FCB-8595-B203B3662C88}"/>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name="1_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09c58d3-5cd9-42fe-847f-613d390a4aa6}" enabled="1" method="Privileged" siteId="{30f51673-ff88-423e-bee3-3b57203338e7}" removed="0"/>
</clbl:labelList>
</file>

<file path=docProps/app.xml><?xml version="1.0" encoding="utf-8"?>
<Properties xmlns="http://schemas.openxmlformats.org/officeDocument/2006/extended-properties" xmlns:vt="http://schemas.openxmlformats.org/officeDocument/2006/docPropsVTypes">
  <TotalTime>1667</TotalTime>
  <Words>1160</Words>
  <Application>Microsoft Office PowerPoint</Application>
  <PresentationFormat>Widescreen</PresentationFormat>
  <Paragraphs>199</Paragraphs>
  <Slides>19</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19</vt:i4>
      </vt:variant>
    </vt:vector>
  </HeadingPairs>
  <TitlesOfParts>
    <vt:vector size="27" baseType="lpstr">
      <vt:lpstr>Aptos</vt:lpstr>
      <vt:lpstr>Arial</vt:lpstr>
      <vt:lpstr>Avenir Next LT Pro</vt:lpstr>
      <vt:lpstr>Calibri</vt:lpstr>
      <vt:lpstr>Gill Sans MT</vt:lpstr>
      <vt:lpstr>Northern lights</vt:lpstr>
      <vt:lpstr>Gallery</vt:lpstr>
      <vt:lpstr>1_Gallery</vt:lpstr>
      <vt:lpstr>Automated Forex Intelligence &amp; Pricing Platform</vt:lpstr>
      <vt:lpstr>Background / Business Rationale</vt:lpstr>
      <vt:lpstr>Project objectives</vt:lpstr>
      <vt:lpstr>Project Value proposition</vt:lpstr>
      <vt:lpstr>Key features</vt:lpstr>
      <vt:lpstr>Benefits to the bank</vt:lpstr>
      <vt:lpstr>Solution Overview</vt:lpstr>
      <vt:lpstr>Step 1: Data Collection Layer </vt:lpstr>
      <vt:lpstr>Step 2: Data Quality &amp; Validation Layer </vt:lpstr>
      <vt:lpstr>Step 3: AI Processing Layer</vt:lpstr>
      <vt:lpstr>Step 4: Dashboard Layer </vt:lpstr>
      <vt:lpstr>Workflow</vt:lpstr>
      <vt:lpstr>Resilience and Error Management Framework </vt:lpstr>
      <vt:lpstr>Technology Components </vt:lpstr>
      <vt:lpstr>Potential External / Technology Costs</vt:lpstr>
      <vt:lpstr>Key Risks and Mitigation</vt:lpstr>
      <vt:lpstr>Actual Workflow diagram</vt:lpstr>
      <vt:lpstr>Screen shots </vt:lpstr>
      <vt:lpstr>Output screen shots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Forex Intelligence &amp; Pricing Platform</dc:title>
  <dc:creator>PKahoro@oldmutual.co.ke</dc:creator>
  <cp:lastModifiedBy>Maryanne Kinyanjui [ICT]</cp:lastModifiedBy>
  <cp:revision>8</cp:revision>
  <dcterms:modified xsi:type="dcterms:W3CDTF">2026-06-09T19:56:30Z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Northern lights:5\Gallery:12\1_Gallery:12</vt:lpwstr>
  </property>
  <property fmtid="{D5CDD505-2E9C-101B-9397-08002B2CF9AE}" pid="3" name="ClassificationContentMarkingHeaderText">
    <vt:lpwstr>Controlled Disclosure</vt:lpwstr>
  </property>
</Properties>
</file>